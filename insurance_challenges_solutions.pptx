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24"/>
  </p:normalViewPr>
  <p:slideViewPr>
    <p:cSldViewPr snapToGrid="0" snapToObjects="1">
      <p:cViewPr varScale="1">
        <p:scale>
          <a:sx n="92" d="100"/>
          <a:sy n="92" d="100"/>
        </p:scale>
        <p:origin x="2104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Insurance Industry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4444"/>
                </a:solidFill>
              </a:defRPr>
            </a:pPr>
            <a:r>
              <a:t>Analysis &amp; Solutions for Lockton and Marsh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1: Global Insurance Industry Challenges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2: Digital Transformation Challenges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3: Lockton-Specific Challenges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4: Marsh-Specific Challenges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5: Middle East Market Challenges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6: Technology &amp; Integration Challenges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7: Recommended Solutions - Technology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8: Recommended Solutions -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9: Implementation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Global Insurance Industry 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 1: Legacy Technology &amp; Technical Debt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Problem: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Many carriers and brokers run on 30-40 year old mainframe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COBOL code, difficult to maintain and modify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Limited API capabilities for modern integrations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High maintenance costs consuming IT budget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Slow time-to-market for new products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Poor customer experience (manual processes, delays)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Difficulty attracting tech talent (no one wants to work on legacy)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Risk of system failures (lack of expertise)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Industry Statistics: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70% of insurance IT budgets spent on maintaining legacy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Average age of core insurance systems: 15-20+ years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Challenge 2: Customer Experience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9099"/>
            <a:ext cx="7863840" cy="6288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Problem: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Customers expect Amazon/Netflix-level experience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Reality: Paper forms, phone calls, weeks for quotes, opaque processes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Especially acute for SMB and personal lines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Customer Expectations (2025):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Instant quotes (minutes, not days)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Self-service portals (24/7 access to policies)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Mobile-first experience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Transparent pricing and coverage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AI chatbots for basic questions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Gap: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Traditional insurance designed for phone/mail era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Multi-day quote turnarounds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Limited self-service capabilities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Complex jargon and policy documents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-185651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Challenge 3: </a:t>
            </a:r>
            <a:r>
              <a:rPr dirty="0" err="1"/>
              <a:t>InsurTech</a:t>
            </a:r>
            <a:r>
              <a:rPr dirty="0"/>
              <a:t> Disruption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9505"/>
            <a:ext cx="7863840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Threat:</a:t>
            </a: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lang="en-IN" dirty="0"/>
              <a:t>	</a:t>
            </a:r>
            <a:r>
              <a:rPr dirty="0"/>
              <a:t>Digital-first insurers: Lemonade (renters/home), Next Insurance (SMB)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Better UX, faster quotes, lower prices (lower cost structure)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Capturing younger customers (tech-savvy demographics)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 err="1"/>
              <a:t>InsurTech</a:t>
            </a:r>
            <a:r>
              <a:rPr dirty="0"/>
              <a:t> Advantages: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No legacy technology burden (built on modern stacks)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Data-driven underwriting (faster decisions)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Lower operating costs (automated, fewer staff)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Venture capital funding to undercut on price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Traditional Broker/Carrier Response: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Must digitize or become irrelevant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Partner with </a:t>
            </a:r>
            <a:r>
              <a:rPr dirty="0" err="1"/>
              <a:t>InsurTech</a:t>
            </a:r>
            <a:r>
              <a:rPr dirty="0"/>
              <a:t> vs. build in-house debate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Urgent need to modernize customer touchpoints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Reality Check: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 err="1"/>
              <a:t>InsurTech</a:t>
            </a:r>
            <a:r>
              <a:rPr dirty="0"/>
              <a:t> still &lt;5% market share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Traditional players have advantages (relationships, expertise, capital)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-146859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Challenge 4: Data Silos &amp; Integration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3098" y="365760"/>
            <a:ext cx="7863840" cy="7704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Problem: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Data scattered across multiple systems: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  • Policy data in PAS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  • Claims data in CMS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  • Client data in CRM/BMS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  • Financial data in ERP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  • Email and documents in various repositories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Each system has different data formats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Limited real-time data sharing</a:t>
            </a:r>
            <a:endParaRPr lang="en-IN"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lang="en-IN" dirty="0"/>
              <a:t>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Incomplete view of client/risk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Manual data entry across systems (errors, inefficiency)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Difficulty generating insights (data not unified)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Poor analytics and reporting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Broker-Specific Challenge: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Must integrate with 50+ carrier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Each carrier has different APIs (or no APIs)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Constant updates and version changes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 5: Talent &amp; Skills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Problem: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Insurance not seen as 'sexy' industry for young talent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Aging workforce (many underwriters/actuaries retiring)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Shortage of tech talent willing to work in insurance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Difficulty finding people with both insurance + tech expertise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Specific Skill Shortages: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scientists for predictive modeling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Cloud architects and engineers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UX designers for customer-facing applications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Cybersecurity specialists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Delivery managers with insurance domain knowledge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Consequences: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Projects delayed due to resource constraints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Over-reliance on expensive consultants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Knowledge loss as experienced staff retire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Difficulty executing digital transformation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-119149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Challenge 6: Regulatory Compliance Burden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6288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Problem: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Constantly changing regulations across jurisdictions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GDPR, CCPA, local data privacy laws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Solvency and capital requirements (Solvency II, risk-based capital)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Market conduct regulations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Impact on Operations: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Significant compliance overhead (staff, processes, technology)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Must track regulations across multiple jurisdictions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Technology changes required for each regulatory change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Risk of fines and penalties for non-compliance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Project 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Compliance requirements add scope to every project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Regulatory deadlines are non-negotiable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Audit trail and documentation requirements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Data residency rules limit cloud options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Challenge 7: Claims Process Inefficiency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9099"/>
            <a:ext cx="7863840" cy="6288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Problem: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Claims processing still largely manual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Paper documents, phone calls, physical inspections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Average claims cycle: 30-90 days (simple claims should be instant)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High cost per claim processed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Customer Pain Points: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Slow payouts (when customers need money most)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Opaque process (no visibility into status)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Repetitive information requests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Disputes and disagreements over settlements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Opportunity: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AI/ML for claims triage and fraud detection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Photo-based damage assessment (mobile app)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Straight-through processing for simple claims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Real-time status updates via customer portal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4182" y="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Challenge 8: Pricing &amp; Risk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9099"/>
            <a:ext cx="7863840" cy="6288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Problem: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Traditional actuarial models based on historical data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Slow to adapt to emerging risks (cyber, climate change, pandemic)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Difficulty pricing new products with limited claims history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Over-reliance on manual underwriting judgment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Emerging Risk Challenges: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Cyber insurance: Rapidly evolving threat landscape, systemic risk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Climate change: Increased catastrophe frequency/severity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Pandemic: Long-tail business interruption claims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Autonomous vehicles: Traditional auto models don't apply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Need: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Real-time data feeds (IoT sensors, telematics)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Predictive models using alternative data sources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Dynamic pricing that adjusts to risk changes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AI-augmented underwriting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Digital Transformation Challenges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Modernization While Running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The Dilemma: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shut down business to rebuild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Must modernize incrementally while serving customers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of disruption during transition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Common Approaches: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Big Bang: Replace everything at once (high risk, rarely succeeds)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Strangler Pattern: Gradually migrate functionality to new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API Layer: Build modern interface on top of legacy (fastest)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Greenfield: New products on new platform, migrate old gradually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Challenges: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Running two systems in parallel (cost, complexity)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synchronization between old and new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Staff resistance to change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Budget constraints (modernization competes with BAU)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Cloud Migration Hesitancy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Why Insurance is Slow to Cloud: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Security concerns (sensitive financial and personal data)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Regulatory uncertainty (data residency requirements)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Legacy applications not cloud-ready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Cultural resistance to 'outsourcing' infrastructure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Cloud Benefits: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Scalability (handle peak loads like renewal season)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Cost efficiency (pay for what you use)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Innovation (access to AI/ML services)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Disaster recovery and business continuity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State: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Most insurers in hybrid cloud (some workloads in cloud, core on-prem)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SaaS adoption growing (Salesforce, Workday, etc.)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Cloud-first InsurTech startups proving security is manageable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Organizational Change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Cultural Barriers: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'We've always done it this way' mentality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Fear of job loss due to automation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Skepticism about new technology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Siloed departments resisting collaboration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Stakeholder Challenges: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Underwriters: Worry automation reduces their role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Brokers/Agents: Fear direct-to-consumer digital channels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IT: Overwhelmed maintaining legacy, resistant to more change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Leadership: Quarterly earnings pressure limits investment patience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Success Factors: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Executive sponsorship and visible commitment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Clear communication of 'why' (customer needs, competitive threat)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Training and reskilling programs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Quick wins to build momentum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Change champions embedded in business units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Build vs. Buy vs. Partner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Options: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Build: Custom development in-house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Buy: Commercial software (Guidewire, Duck Creek, etc.)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Partner: API integration with InsurTech/vendors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Build Pros/Cons: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Pros: Perfect fit to needs, competitive differentiation, control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Cons: Expensive, slow, resource-intensive, maintenance burden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Buy Pros/Cons: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Pros: Faster, proven, vendor maintains/updates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Cons: Expensive licensing, customization limited, vendor lock-in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Partner Pros/Cons: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Pros: Fast, innovative, pay-per-use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Cons: Integration complexity, vendor viability risk, data sharing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Reality: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Most insurers use hybrid approach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Core systems: Buy (too risky to build)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Differentiators: Build (competitive advantage)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Emerging capabilities: Partner (test before committing)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Lockton-Specific Challenges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Lockton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Company Profile: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World's largest privately-held insurance broker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Founded 1966, headquarters Kansas City, Missouri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11,000+ associates globally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Offices in 140+ countries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Revenue: ~$2.7B (2023)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Ownership Structure: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Employee-owned (associates are shareholders)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Private ownership = long-term focus, not quarterly earnings pressure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Core Services: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management and insurance broking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Employee benefits consulting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Retirement services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Specialty practices (healthcare, construction, energy, cyber)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Lockton Challenge 1: Competing Against Larger Public Brokers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Competition: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Marsh McLennan (MMC): ~$23B revenue, 85,000 employees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Aon: ~$13B revenue, 50,000 employees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Willis Towers Watson: ~$9B revenue, 45,000 employees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Lockton Disadvantages: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Smaller scale = less negotiating power with some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Less brand recognition (especially internationally)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Smaller technology budgets compared to public brokers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access public equity markets for capital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Lockton Advantages: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Private ownership culture (client-first, not Wall Street-first)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Faster decision-making (less bureaucracy)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Employee ownership = alignment and retention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Nimble and entrepreneurial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Strategy: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Compete on service quality and relationship depth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Specialize in niches where relationships matter more than scale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Lockton Challenge 2: Technology Investment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Problem: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Public brokers have larger IT budgets: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Marsh: $500M+ annual tech spending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Aon: $400M+ annual tech spending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Lockton: Estimated $100-150M (significantly less)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 is becoming competitive differentiator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Clients expect sophisticated digital capabilities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Technology Gaps (vs. Larger Competitors):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self-service portals less developed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analytics capabilities lagging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API integrations with carriers not as comprehensive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Mobile experience not as polished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of losing tech-savvy clients to competitors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Difficulty attracting younger talent (want modern tech stack)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 spending more time on manual tasks (less time with clients)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Opportunity: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Smart technology choices can level the playing field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Don't need to match dollar-for-dollar; need to be strategic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Lockton Challenge 3: Broker Management System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State: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Likely using Applied Epic or similar BMS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System handles: clients, policies, carriers, commissions, renewals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Multiple integrations required (carriers, accounting, CRM)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Challenges: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Customization needed for Lockton's specific workflows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Training new associates on complex system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quality issues (manual entry errors, incomplete data)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Reporting limitations (hard to get insights from system)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Integration with carrier systems varies widely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Broker Pain Points: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Too many clicks to complete common tasks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easily see complete client picture (policies across carriers)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Renewal tracking requires manual effort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Mobile access limited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Desired State: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Single pane of glass for client information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Automated workflows for routine tasks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Proactive alerts for renewal opportunities and issues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Lockton Challenge 4: Client Portal &amp; Digital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State (Typical for Mid-Size Brokers):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Basic client portal (if exists): View policies, download certificates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Most interaction still via email and phone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self-service capabilities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Client Expectations (Especially Large Corporates):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24/7 access to all policy information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Download certificates instantly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File claims online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View renewal status and quotes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Access analytics and reporting (loss ratios, benchmarking)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Mobile app for on-the-go access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Gap: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Lockton's digital client experience likely behind Marsh/Aon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Large clients comparing broker portals when selecting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of client attrition due to inferior digital experience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Investment Needed: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Modern client portal (substantial IT project)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API integrations with carrier systems (complex)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Mobile app development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Lockton Challenge 5: Data Analytics &amp; Business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Problem: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spread across BMS, spreadsheets, email, carrier portals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analytics capabilities to derive insights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Reporting is manual and time-consuming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Analytics Use Cases (Underutilized):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retention prediction (which clients at risk of leaving?)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Cross-sell opportunities (which clients need additional coverage?)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Loss ratio analysis by client/industry (identify problem accounts)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Renewal success rates (improve forecasting)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productivity metrics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Market intelligence (competitive pricing trends)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State: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Basic reporting from BMS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Excel-based analysis (manual, not scalable)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predictive analytics or AI/ML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Opportunity: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Build centralized data warehouse (Snowflake/BigQuery)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Implement BI tools (Tableau, Power BI)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Develop predictive models for key use cases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Lockton Challenge 6: Middle East Market Specifics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Unique Challenges in UAE/Middle East: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Multi-Jurisdictional Complexity: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Clients operate across GCC countries (UAE, Saudi, Qatar, etc.)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Different regulations in each country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Need coordinated coverage across jurisdictions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Mandatory Insurance Requirements: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Health insurance (all UAE residents)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Motor third-party liability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Professional indemnity (many sectors)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Need systems to track compliance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Takaful (Islamic Insurance):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Some clients require Sharia-compliant coverage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Need access to Takaful carriers in addition to conventional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Expatriate Workforce: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Diverse nationalities with varying insurance needs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Group benefits complexity (home leave, repatriation, etc.)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Lockton Challenge 7: Talent Acquisition &amp;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Dubai-Specific Challenges: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High cost of living (need competitive compensation)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Competition from other brokers and carriers for talent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Expatriate workforce (visa sponsorship, turnover)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local insurance talent pool (small market)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Technology Talent: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Difficult to attract tech talent to insurance industry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Dubai has limited tech talent compared to major tech hubs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Competition from tech companies, banks, consulting firms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Employee Ownership Value: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Lockton's employee ownership is retention advantage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But must communicate value effectively (especially to younger staff)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Training &amp; Development: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Need robust onboarding for insurance fundamentals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Continuous learning programs (certifications, skills development)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Career path clarity (how to advance at Lockton)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Marsh-Specific Challenges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Marsh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Company Profile: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Part of Marsh McLennan Companies (MMC)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World's largest insurance broker (by revenue)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Founded 1871, headquarters New York City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45,000+ colleagues in 130+ countries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Revenue: ~$20B+ (MMC consolidated, includes Mercer, Guy Carpenter, Oliver Wyman)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Public Company: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Traded on NYSE (MMC)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Quarterly earnings pressure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Subject to shareholder expectations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Scale Advantages: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Largest negotiating power with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Massive technology budget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Global presence and brand recognition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Diversified business (insurance + consulting)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Marsh Challenge 1: Complexity &amp; Bureaucracy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Problem: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Size creates organizational complexity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Multiple layers of approval for decisions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Slow decision-making (committee-driven)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Regional/divisional silos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Slower innovation compared to smaller brokers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Difficulty executing change (cultural inertia)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frustration with responsiveness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Talented employees leave for entrepreneurial environments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Internal Challenges: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Information flows slowly through hierarchy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Inconsistent processes across geographies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 decisions centralized but needs are local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Competitive Threat: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Nimble brokers like Lockton can move faster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InsurTech startups unburdened by legacy org structure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Marsh Challenge 2: Legacy Technology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Problem: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Decades of acquisitions = patchwork of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Different regions using different BMS platforms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Multiple policy administration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Integration nightmare (systems don't talk to each other)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Example Complexity: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North America on one BMS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Europe on different BMS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Asia-Pacific on another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Each acquisition brings more systems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Harmonization Challenges: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easily migrate 45,000 users to new platform (massive risk)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migration from dozens of systems extremely complex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Business disruption risk too high for 'big bang' approach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Estimated cost to harmonize: $500M+ over 5-7 years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Strategy: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API layer to integrate disparate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Cloud-based data warehouse to unify data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Gradual migration to modern platforms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Marsh Challenge 3: Public Company Pressures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Quarterly Earnings Focus: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Pressure to meet Wall Street expectations every 90 days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Long-term investments harder to justify (payback may take years)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Cost-cutting pressures (headcount, discretionary spending)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Impact on Strategy: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Innovation projects compete with cost reduction initiatives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Difficult to invest in R&amp;D without immediate ROI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Staff reductions to hit margin targets (impact service quality)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Culture 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Focus on financial metrics over client outcomes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aversion (mistakes impact stock price)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Talent retention challenges (employees feel like cogs in machine)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Contrast with Lockton: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Lockton can invest for long-term without quarterly pressure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More flexibility in strategic choices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Marsh Challenge 4: Client Service Quality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Challenge: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Maintaining personalized service with 45,000 employees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Clients feel like 'just a number'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Account manager turnover disrupts relationships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Inconsistent service quality across regions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Client Complaints (Common for Large Brokers):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Difficult to reach decision-makers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Layers of account handlers (not senior relationship)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Slow response times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Feels more focused on fees than client outcomes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Competitive Vulnerability: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Mid-size clients may prefer smaller brokers with more attention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Lockton/others can win by emphasizing relationship depth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Marsh's Response: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Industry vertical specialization (deep expertise in sectors)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 investments to improve client experience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success teams and relationship management frameworks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Marsh Challenge 5: Integration Post-Acquisition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Marsh's Growth Strategy: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Frequent acquisitions of regional brokers and specialists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Dozens of acquisitions over past decade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Integration Challenges: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Integrating acquired companies' systems into Marsh infrastructure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Cultural integration (entrepreneurial firm into large corporate)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retention (some clients leave post-acquisition)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Redundant staff and overlapping clients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Contractual obligations to acquired firm's employees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Technology Integration: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Move acquired firm from their BMS to Marsh's BMS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migration (policies, clients, financials)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Carrier relationships and commission agreements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Typical integration timeline: 12-24 months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Risk: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Integration disruption leads to client and staff attrition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Expected synergies don't materialize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Marsh Challenge 6: Regulatory &amp; Compliance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Scale of Compliance Challenge: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Operating in 130+ countries = 130+ regulatory regimes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Must comply with local insurance regulations everywhere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privacy laws vary (GDPR in Europe, CCPA in California, etc.)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Anti-corruption and bribery laws (FCPA, UK Bribery Act)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Compliance Functions: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Large teams dedicated to regulatory compliance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 systems to track licenses, filings, reporting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Training programs for staff on compliance requirements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Recent Issues: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Historical regulatory issues and fines (bid-rigging scandal 2000s)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Ongoing scrutiny from regulators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Reputational sensitivity to any compliance failure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Cost: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Compliance overhead reduces profitability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But essential to maintain license to operate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Middle East Market Challenges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Regional Challenge 1: Regulatory Fragmentation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Problem: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Each GCC country has different insurance regulations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UAE alone has multiple frameworks: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Federal (Insurance Authority)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DIFC (separate common law system)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ADGM (Abu Dhabi's financial free zone)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Saudi Arabia, Qatar, Kuwait, Oman, Bahrain all different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Implications: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 need licenses in multiple jurisdictions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offer single regional policy (must navigate each country)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Compliance requirements vary (reporting, solvency, conduct)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Technology 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Systems must handle multiple regulatory frameworks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Reporting requirements differ by jurisdiction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residency rules (where data can be stored)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Regional Challenge 2: Market Maturity Varies Widely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UAE: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Most mature market in region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Sophisticated clients (multinationals, financial sector)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Advanced insurance products available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Saudi Arabia: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Rapidly growing, reforms underway (Vision 2030)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Opening to international firms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But still developing (many businesses underinsured)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Other GCC: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Qatar, Kuwait, Bahrain: Smaller markets, varied maturity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Oman: Emerging market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Challenge for Brokers: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Must tailor approach by market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Products/services that work in Dubai may not in Riyadh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Pricing and risk assessment require local expertise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Regional Challenge 3: Economic Volatility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Oil Price Dependency: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GCC economies heavily influenced by oil prices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Oil price drops = economic contraction = insurance demand falls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Impacts commercial insurance, construction projects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Currency Risk: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Most GCC currencies pegged to USD (except Kuwait)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But fluctuations impact cross-border policies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Project-Based Economy: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Many large infrastructure projects (airports, stadiums, cities)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Project completion/cancellation impacts insurance demand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Cyclical nature (boom and bust)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Diversification Efforts: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UAE/Saudi pursuing economic diversification (tourism, tech, finance)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Creates new insurance opportunities (cyber, professional liability)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But transition period creates uncertainty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Regional Challenge 4: Talent &amp; Expertise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Limited Local Talent Pool: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Smaller populations = fewer insurance professionals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Most brokers/underwriters are expatriates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High turnover (expats often stay 2-3 years)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Training Challenges: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local insurance education programs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International certifications (CPCU, etc.) not as common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Must invest in training to build capabilities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Language &amp; Culture: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Arabic language skills valuable but not always available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Understanding local business culture and practices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Relationship-driven business (not just transactional)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Compensation: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Tax-free salaries attractive but offset by high living costs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Global firms can rotate talent in/out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Smaller brokers struggle to compete for top talent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Regional Challenge 5: Technology Adoption Lag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State: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Middle East insurance tech adoption behind US/Europe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Many carriers still using legacy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API availability from local carriers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Reasons: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Smaller market = less investment in technology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Regulatory uncertainty slows cloud adoption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Risk-averse culture (prefer proven technology)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Impact on Brokers: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Integration with regional carriers more difficult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Manual processes persist (email quotes, paper policies)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Customer experience suffers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Opportunity: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First mover advantage for brokers who digitize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Young, tech-savvy population ready to adopt digital insurance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Technology &amp; Integration Challenges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Carrier Integration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The Problem: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needs to integrate with 50-100+ carrier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Each carrier has different: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Data formats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API standards (if APIs exist at all)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Authentication methods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Business rules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Integration Methods (Reality):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Modern carriers: RESTful APIs (minority)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Mid-tier carriers: SOAP APIs or EDI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Legacy carriers: Email, fax, phone, carrier portals (manual)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Data Challenges: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Quote request formats differ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Policy data structures vary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standard field mappings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Maintenance Burden: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Carriers update systems/APIs regularly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must maintain 50+ integrations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Single integration broken = manual fallback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Data Quality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Data Quality Issues: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Manual entry errors (typos, wrong fields)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Inconsistent formatting (addresses, phone numbers, dates)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Duplicate records (same client/policy multiple times)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Incomplete data (missing required fields)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Outdated information (stale client details)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Reports and analytics unreliable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experience suffers (wrong information)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Compliance risk (missing required data)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Operational inefficiency (staff cleaning data)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Root Causes: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data validation at entry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Multiple systems with different data standards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Lack of data governance processes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single source of truth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Needed: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quality rules and validation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Master data management (MDM)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Regular data cleansing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Training on data entry standards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Cybersecurity &amp; Data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Threat Landscape: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Insurance brokers hold highly sensitive data: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Personal information (SSN, health records)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Financial data (bank accounts, revenue)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Business details (operations, risks)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Attractive target for cybercriminals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Common Threats: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Ransomware (encrypt systems, demand payment)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Phishing (steal credentials)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breaches (exfiltrate client data)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Business email compromise (intercept wire transfers)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Regulatory Requirements: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GDPR (Europe): Strict data protection and breach notification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CCPA (California): Consumer privacy rights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UAE Data Protection Law: Local requirements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Investment Needed: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Security tools (firewalls, encryption, monitoring)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Staff training (security awareness)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Incident response planning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Cyber insurance for broker itself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Mobile &amp; Remote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Business Need: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 work from client offices, home, while traveling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Need access to client data, policies, quotes on the go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Clients expect mobile access to their information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Gap: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Many BMS systems not mobile-friendly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functionality on mobile browsers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Native mobile apps rare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Security Challenge: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Sensitive data on mobile devices (risk if lost/stolen)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Personal devices (BYOD) hard to secure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Public WiFi risks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Desired State: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Native mobile app for brokers (iOS/Android)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Mobile-optimized client portal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Secure access (MFA, device management)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Offline capability (cached data when no connection)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Recommended Solutions - Technology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1: Modern Client Portal &amp; Self-Service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Recommended Approach: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Build cloud-native client portal (React/Angular frontend, microservices backend)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API-first architecture (integrate with BMS, carrier systems)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Mobile-responsive design (works on all devices)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Core Features: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View all policies across all carriers (unified view)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Download certificates of insurance instantly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File claims online with photo uploads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View renewal status and quotes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Access reports and analytics (loss ratios, benchmarking)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Secure document vault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Chat/messaging with broker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Technology Stack: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Frontend: React.js or Angular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Backend: Node.js or Python (FastAPI)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Database: PostgreSQL or MongoDB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Cloud: AWS or Azure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Authentication: OAuth 2.0, MFA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Implementation: 6-12 months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2: Data Warehouse &amp;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Recommended Architecture: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Cloud data warehouse (Snowflake or BigQuery preferred)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ETL/ELT pipelines from source systems (BMS, carriers, CRM)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BI tool layer (Tableau or Power BI)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Optional: ML platform (Databricks) for predictive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Data Sources to Integrate: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BMS (clients, policies, commissions)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Carrier systems (claims, premiums)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CRM (opportunities, activities)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Financial system (revenue, expenses)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Email/documents (unstructured data)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Use Cases: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Executive dashboards (KPIs, trends)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retention analysis and prediction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Cross-sell opportunity identification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Loss ratio analysis by client/industry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productivity metrics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Market intelligence and competitive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Why Snowflake: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Built for multi-source data aggregation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Strong governance and security (important for insurance)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sharing capabilities (share insights with clients/carriers)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Multi-cloud (not locked to single cloud provider)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3: API Integration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Problem Being Solved: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Dozens of carrier integrations to build and maintain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Inconsistent data formats and business rules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Recommended Approach: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Build API gateway/integration layer (middleware)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Normalize carrier data into standard format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Abstract complexity from frontend systems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Architecture: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API Gateway (Kong, AWS API Gateway, or Apigee)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Integration platform (MuleSoft, Dell Boomi, or custom)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Standard data model (ACORD standards as baseline)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Benefits: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Add/modify carrier integrations without touching frontend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Centralized monitoring and error handling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Rate limiting and security controls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Reusable across multiple applications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Carrier Integration Priority: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Phase 1: Top 10 carriers by volume (80% of policies)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Phase 2: Next 20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Phase 3: Long tail (manual fallback acceptable)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4: Workflow Automation &amp; RPA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Opportunities for Automation: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Certificate of Insurance generation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Renewal reminder emails and workflows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Policy data entry from carrier emails/PDFs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Commission reconciliation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status checking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Report generation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Technologies: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Workflow automation: Zapier, Microsoft Power Automate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RPA (Robotic Process Automation): UiPath, Automation Anywhere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Document processing: OCR + AI (extract data from PDFs)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Quick Wins (Implement in Weeks):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Auto-send renewal reminders 90 days before expiration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Auto-generate certificates from BMS data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Auto-update policy status from carrier emails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Advanced (6-12 Months):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AI-powered quote request triage (route to right underwriter)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Intelligent document classification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Predictive renewal pricing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ROI: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time savings: 10-20 hours/week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Faster client response (certificate in minutes, not hours)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5: Cloud Migration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Why Cloud: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Scalability (handle peak loads)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Cost efficiency (pay for what you use)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Innovation access (AI/ML services)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Disaster recovery built-in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Remote work enablement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Recommended Approach: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Hybrid cloud (not all-or-nothing)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SaaS-first for standard functions (email, CRM, HR)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Cloud-native for new applications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On-prem for legacy core systems (for now)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Migration Phases: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Phase 1: Non-critical workloads (dev/test environments)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Phase 2: New applications (client portal, analytics)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Phase 3: Email and collaboration tools (Microsoft 365)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Phase 4: Core systems (only after proven success)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Cloud Provider Selection: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AWS or Azure (both strong for insurance)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Consider multi-cloud for resilience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Ensure data residency compliance (UAE, GDPR)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6: Mobile App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Broker Mobile App: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Native iOS and Android apps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Access client information on the go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Quick policy lookup and status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Upload photos/documents from field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Offline mode with sync when online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Client Mobile App: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View policies and coverage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Download certificates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File claims with photo evidence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Push notifications for renewals, claims updates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Development Approach: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Option 1: Native (Swift/Kotlin) - Best performance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Option 2: React Native - Faster development, shared code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Option 3: Progressive Web App (PWA) - No app store required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Recommendation: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Start with PWA (faster, cheaper, no app store approval)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Migrate to native if usage justifies investment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Timeline: 4-8 months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7: AI &amp; Machine Learning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Use Cases for AI/ML in Insurance Broking: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Client Retention Prediction: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Predict which clients likely to switch brokers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Proactive outreach to at-risk clients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Cross-Sell Recommendations: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Identify which clients need additional coverage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Personalized product recommendations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Quote Triage &amp; Routing: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Auto-classify quote requests by complexity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Route to appropriate underwriter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Document Processing: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Extract data from policy documents (OCR + NLP)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Auto-populate BMS from carrier emails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5. Claims Fraud Detection: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Flag suspicious claims patterns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Assist carrier investigations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6. Chatbots: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Answer common client questions 24/7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Escalate complex queries to human brokers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Recommended Solutions - Operations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8: Agile Delivery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Why Agile for Insurance: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Faster time-to-market (2-week sprints)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Continuous feedback and improvement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Better stakeholder alignment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mitigation (fail fast, learn quickly)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Hybrid Approach (Disciplined Agile):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Agile development cadence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Waterfall gates for compliance/regulatory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Documentation throughout (not just at end)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Formal change control for production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Implementation: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Train delivery and development teams on Agile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Start with pilot project (not mission-critical)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Embed product owner from business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Daily standups, sprint planning, retrospectives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Success Metrics: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Delivery velocity (story points per sprint)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Defect rates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Stakeholder satisfaction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Time-to-market for features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9: Change Management &amp;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Challenge: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 projects fail more from adoption than tech issues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Must bring brokers, underwriters, clients along on journey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Change Management Framework: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Executive sponsorship (visible, committed leadership)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Clear communication (why we're changing)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Champion network (influential advocates in each department)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Training programs (role-based, practical)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Support resources (help desk, super users, office hours)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Celebrate wins (publicize successes)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Training Approach: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Not generic 'how the system works' training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Role-specific: 'How YOU will use this for YOUR job'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Multiple formats: instructor-led, videos, job aids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Ongoing (not just at launch)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Adoption Metrics: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Login rates and feature usage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Support ticket volumes and types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User satisfaction surveys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Time-to-complete common tasks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10: Data Governance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What is Data Governance: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Policies, processes, and standards for managing data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Ensures data quality, security, and compliance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Components: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quality rules (validation, completeness)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ownership (who is accountable for each data domain)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dictionary (standard definitions)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Master data management (single source of truth)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Access controls (who can see/edit what data)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Audit trails (track data changes)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Implementation: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Establish data governance council (cross-functional)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Define data quality metrics and targets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Implement MDM for critical entities (clients, policies)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Regular data quality reporting and remediation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Benefits: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Reliable reporting and analytics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Better customer experience (correct information)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Regulatory compliance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Operational efficiency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11: Cybersecurity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Multi-Layered Security Approach: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Network Security: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Next-gen firewalls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Intrusion detection/prevention (IDS/IPS)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VPN for remote access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Endpoint Security: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Antivirus and anti-malware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Endpoint detection and response (EDR)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Device encryption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Mobile device management (MDM)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Identity &amp; Access Management: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Multi-factor authentication (MFA) for all users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Single sign-on (SSO)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Privileged access management (PAM)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Regular access reviews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Data Protection: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Encryption at rest and in transit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loss prevention (DLP)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Backup and disaster recovery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5. Security Awareness: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Annual security training for all staff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Phishing simulations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Incident response drills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12: Strategic Partnerships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InsurTech Partnerships: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Partner with InsurTech startups for innovation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Faster than building in-house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Examples: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Claim processing AI: Tractable, Snapsheet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Risk assessment: Cape Analytics, Zesty.ai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Customer engagement: Betterview, Hi Marley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Technology Vendor Relationships: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Strategic partnerships vs. transactional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Co-innovation opportunities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Example: Deep partnership with Snowflake for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Carrier Partnerships: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Deepen integration with key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Joint client initiatives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 collaboration (shared APIs, data)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Evaluation Criteria: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Strategic fit (solves critical business problem)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Financial viability (partner won't disappear)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Technical compatibility (integration ease)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Cultural fit (similar values)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Implementation Roadmap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Prioritization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Criteria for Prioritizing Solutions: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Business 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Revenue potential (client retention, new business)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Cost savings (operational efficiency)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reduction (compliance, security)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Feasibility: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Technical complexity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Resource availability (budget, talent)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Dependencies on other projects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Urgency: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Competitive pressure (are we falling behind?)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demands (what are they asking for?)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Regulatory deadlines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Strategic Alignment: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Supports long-term vision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Foundation for future initiatives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Recommendation: Score each solution 1-5 on each criterion, sum scores, prioritize highest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Phase 1: Quick Wins (0-6 Months)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Priority Projects: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Workflow Automation: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Certificate generation automation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Renewal reminder automation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Immediate time savings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Cost: Low ($50-100K)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Timeline: 2-3 months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Data Quality Initiative: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cleansing in BMS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Validation rules for new entries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Better reporting, fewer errors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Cost: Low ($50K + staff time)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Timeline: 3-4 months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Cybersecurity Enhancements: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MFA rollout to all users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Security awareness training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Risk reduction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Cost: Medium ($100-200K)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Timeline: 3-6 months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Goal: Build momentum with visible wins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Phase 2: Foundation Building (6-18 Months)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Priority Projects: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Data Warehouse &amp; Analytics: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Implement Snowflake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ETL from BMS and key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BI dashboards (Tableau/Power BI)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Insights for decision-making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Cost: Medium-High ($500K-1M)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Timeline: 9-12 months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API Integration Layer: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Build middleware for carrier integrations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Integrate top 10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Faster quotes, better data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Cost: Medium ($300-500K)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Timeline: 6-9 months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Enhanced Client Portal (MVP):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Core self-service features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Mobile-responsive design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Client satisfaction, efficiency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Cost: Medium-High ($500K-800K)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Timeline: 9-12 months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Goal: Build platform for future innovation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Phase 3: Transformation (18-36 Months)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Priority Projects: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Client Portal - Advanced Features: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Analytics and benchmarking for clients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Native mobile apps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filing and tracking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Differentiation vs. competitors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Cost: High ($1-2M)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Timeline: 12-18 months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AI/ML Applications: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retention prediction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Cross-sell recommendations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Document processing automation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Revenue growth, efficiency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Cost: High ($800K-1.5M)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Timeline: 12-15 months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Cloud Migration: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Move non-core systems to cloud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Disaster recovery in cloud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Cost savings, agility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Cost: High (variable, $1M+)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Timeline: 18-24 months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Goal: Industry-leading capabilities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Governance &amp; Delivery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Program Governance: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Steering committee (quarterly)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Executive sponsors for each major initiative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Program management office (PMO)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Regular portfolio reviews (prioritize, deprioritize)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Delivery Approach: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Agile methodology for development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2-week sprints with demos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Formal gates for production releases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Phased rollouts (pilot → full deployment)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Resource Model: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Core internal team (architects, delivery managers, product owners)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Augment with contractors/consultants for specialized skills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Build internal capability over time (reduce contractor dependency)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Success Metrics: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On-time, on-budget delivery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Business outcomes achieved (revenue, cost savings, satisfaction)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User adoption rates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 realization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Budget &amp;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Estimated 3-Year Investment: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For Mid-Size Broker (Lockton Scale):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Year 1: $2-3M (quick wins + foundation)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Year 2: $3-5M (major platforms + integrations)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Year 3: $4-6M (advanced features + AI/ML)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Total: $9-14M over 3 years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For Large Broker (Marsh Scale):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2-3x the above (due to scale and complexity)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Total: $20-40M over 3 years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Funding Sources: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Operating budget (BAU technology spend)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Strategic investment (approved separately)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Cost savings from efficiency gains (self-funded over time)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ROI Expectations: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Payback period: 3-5 years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Benefits: Revenue growth, cost savings, risk reduction, competitive advantage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Critical Success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Executive Commitment: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Visible, sustained support from CEO/COO level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Willing to make tough decisions (budget, priorities, change)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Business-IT Partnership: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IT and business working together (not IT-driven)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Business owns outcomes, IT enables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Talent: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Right people with right skills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Invest in training and development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Retention of key resources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Change Management: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Don't underestimate cultural resistance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Invest in communication, training,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5. Realistic Timelines: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Transformation takes years, not months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Celebrate milestones along the way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6. Measurement: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Define success metrics upfront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Track and report progress regularly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Course-correct based on data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Risks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Key Risks: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Budget Overruns: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Mitigation: Phased approach, kill projects not delivering ROI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Talent Attrition: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Mitigation: Competitive comp, career development, retention bonuses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Technology Failure: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Mitigation: Proof-of-concepts before full commitment, pilot programs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Low User Adoption: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Mitigation: Involve users early, robust change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5. Business Disruption: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Mitigation: Phased rollouts, parallel run periods, rollback plans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6. Vendor Dependency: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Mitigation: Avoid single vendor lock-in, contractual protections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7. Regulatory Changes: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Mitigation: Build flexibility into architecture, monitor regulatory landscape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Recommendations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For Lockton: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1. Invest in client portal and analytics to compete with larger brokers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2. Leverage private ownership culture as talent differentiator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3. Focus on relationship depth + technology enablement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4. Build data warehouse to unlock insights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5. Strategic partnerships with InsurTech for innovation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For Marsh: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1. Simplify and harmonize technology landscape (reduce complexity)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2. Balance scale advantages with nimbleness (avoid bureaucracy)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3. Invest in client service quality at scale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4. Leverage acquisition opportunities but execute integration better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5. Use technology budget advantage strategically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For Both: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1. Digital transformation is not optional (customer expectations demand it)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2. Start with quick wins, build foundation, then transform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3. Change management is half the effort (don't neglect people side)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4. Measure ROI and course-correct based on results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4444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6768</Words>
  <Application>Microsoft Macintosh PowerPoint</Application>
  <PresentationFormat>On-screen Show (4:3)</PresentationFormat>
  <Paragraphs>1258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Keshav kumar</cp:lastModifiedBy>
  <cp:revision>3</cp:revision>
  <dcterms:created xsi:type="dcterms:W3CDTF">2013-01-27T09:14:16Z</dcterms:created>
  <dcterms:modified xsi:type="dcterms:W3CDTF">2026-02-12T16:19:52Z</dcterms:modified>
  <cp:category/>
</cp:coreProperties>
</file>