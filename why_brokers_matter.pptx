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58" r:id="rId5"/>
    <p:sldId id="276" r:id="rId6"/>
    <p:sldId id="259" r:id="rId7"/>
    <p:sldId id="277" r:id="rId8"/>
    <p:sldId id="260" r:id="rId9"/>
    <p:sldId id="261" r:id="rId10"/>
    <p:sldId id="278" r:id="rId11"/>
    <p:sldId id="262" r:id="rId12"/>
    <p:sldId id="279" r:id="rId13"/>
    <p:sldId id="263" r:id="rId14"/>
    <p:sldId id="280" r:id="rId15"/>
    <p:sldId id="264" r:id="rId16"/>
    <p:sldId id="281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 snapToObjects="1">
      <p:cViewPr varScale="1">
        <p:scale>
          <a:sx n="92" d="100"/>
          <a:sy n="92" d="100"/>
        </p:scale>
        <p:origin x="2104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Why Brokers Still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The Value Proposition in the AI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Existential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"If I can Google anything, use AI chatbots, and compare quotes online..."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"Why do I need a broker?"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This is THE question facing the insurance broking industry: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• Personal lines (auto, home): Already largely commoditized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Direct-to-consumer (Geico, Progressive) capturing market share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AI-powered comparison sites (</a:t>
            </a:r>
            <a:r>
              <a:rPr dirty="0" err="1"/>
              <a:t>Policygenius</a:t>
            </a:r>
            <a:r>
              <a:rPr dirty="0"/>
              <a:t>, </a:t>
            </a:r>
            <a:r>
              <a:rPr dirty="0" err="1"/>
              <a:t>Insurify</a:t>
            </a:r>
            <a:r>
              <a:rPr dirty="0"/>
              <a:t>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Traditional agents losing ground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2F17-93A7-763E-0C6B-70B2973E7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8F8319-FD0A-B82E-D345-44A637439396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Existential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2988A-9B80-BF2F-FD98-4AD50D75C5CD}"/>
              </a:ext>
            </a:extLst>
          </p:cNvPr>
          <p:cNvSpPr txBox="1"/>
          <p:nvPr/>
        </p:nvSpPr>
        <p:spPr>
          <a:xfrm>
            <a:off x="640080" y="1280160"/>
            <a:ext cx="786384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• Small business: Under pressure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Simple risks can be bought online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Price transparency reducing margins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• Commercial/Enterprise: Brokers still essential (for now)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But AI is coming for this too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The broker value proposition MUST evolve or die</a:t>
            </a:r>
          </a:p>
        </p:txBody>
      </p:sp>
    </p:spTree>
    <p:extLst>
      <p:ext uri="{BB962C8B-B14F-4D97-AF65-F5344CB8AC3E}">
        <p14:creationId xmlns:p14="http://schemas.microsoft.com/office/powerpoint/2010/main" val="1652914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AI &amp; Technology CAN Do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637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Information Access: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Instant answers to insurance questions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Policy definitions and coverage explanations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Compare premiums across carriers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Simple Transactions: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Quote generation for standard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Policy issuance for straightforward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Certificate downloads and routine documents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Claims submission for minor incidents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BD91-65D6-AB83-52B4-4AFF4DB5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11D12-7567-35A6-84F1-D906C06C1EDC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AI &amp; Technology CAN Do Well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C92DA-7DCB-8735-88A1-0D18B985668C}"/>
              </a:ext>
            </a:extLst>
          </p:cNvPr>
          <p:cNvSpPr txBox="1"/>
          <p:nvPr/>
        </p:nvSpPr>
        <p:spPr>
          <a:xfrm>
            <a:off x="640080" y="1280160"/>
            <a:ext cx="786384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Data Analysis: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Process vast amounts of data quickly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Identify patterns and trends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Calculate risk scores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Benchmark against industry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Efficiency: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24/7 availability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Instant responses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No human labor cost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Scalable to millions of users</a:t>
            </a:r>
          </a:p>
        </p:txBody>
      </p:sp>
    </p:spTree>
    <p:extLst>
      <p:ext uri="{BB962C8B-B14F-4D97-AF65-F5344CB8AC3E}">
        <p14:creationId xmlns:p14="http://schemas.microsoft.com/office/powerpoint/2010/main" val="62258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AI &amp; Technology CANNOT Do (Yet)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Complex Risk Assessment: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Understanding unique business models and exposures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Identifying risks the client doesn't even know they have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Evaluating interrelated risks across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Judgment &amp; Contextualization: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When standard coverage won't work for unusual situations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Trade-offs between cost, coverage, and deductibles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Business continuity implications of coverage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7126-0EAC-81B5-DB99-DC5AE4DB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169DAA-C156-D3AE-4A71-EAD779118DB3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AI &amp; Technology CANNOT Do (Yet)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54BD7-FA63-8AE2-2A3C-E9900E9203CB}"/>
              </a:ext>
            </a:extLst>
          </p:cNvPr>
          <p:cNvSpPr txBox="1"/>
          <p:nvPr/>
        </p:nvSpPr>
        <p:spPr>
          <a:xfrm>
            <a:off x="640080" y="1280160"/>
            <a:ext cx="78638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Negotiation: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Fighting with carriers for better terms/pricing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Leveraging relationships for non-standard approvals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Claims advocacy when disputes arise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Trust &amp; Accountability: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Fiduciary responsibility to client (AI has no skin in the game)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Long-term relationship and understanding of business evolution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Someone to call when things go wrong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Strategic Advisory: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How insurance fits into broader business strategy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Risk management beyond just buying coverage</a:t>
            </a:r>
          </a:p>
        </p:txBody>
      </p:sp>
    </p:spTree>
    <p:extLst>
      <p:ext uri="{BB962C8B-B14F-4D97-AF65-F5344CB8AC3E}">
        <p14:creationId xmlns:p14="http://schemas.microsoft.com/office/powerpoint/2010/main" val="14711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Personal Lines vs. Commercial: Different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rPr dirty="0"/>
              <a:t>PERSONAL LINES: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(Auto, Home, Life)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Why AI/Direct Works: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Highly standardized products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Simple risk profiles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Price is primary decision factor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Low complexity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Commodity purchase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Auto insurance for Honda Civic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Same car, same coverage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Algorithms can price accurately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No customization needed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Just need lowest price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Result: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Brokers/agents losing to: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Direct carriers (Geico, Progressive)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Comparison sites (The Zebra)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</a:t>
            </a:r>
            <a:r>
              <a:rPr dirty="0" err="1"/>
              <a:t>InsurTech</a:t>
            </a:r>
            <a:r>
              <a:rPr dirty="0"/>
              <a:t> (Lemonade, Root)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rPr dirty="0"/>
              <a:t>COMMERCIAL LINES: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(Business Insurance)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Why Brokers Still Essential: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Highly customized solutions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Complex, unique risk profiles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Expertise matters more than price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High complexity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Strategic purchase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Manufacturing company insurance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Unique operations and exposures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Product liability considerations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Supply chain risks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Workers' comp complexities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Need expert assessment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Result: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Brokers thriving because: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Cannot be reduced to algorithm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Relationship and expertise matter</a:t>
            </a:r>
          </a:p>
          <a:p>
            <a:pPr>
              <a:spcBef>
                <a:spcPts val="600"/>
              </a:spcBef>
              <a:defRPr sz="1400"/>
            </a:pPr>
            <a:r>
              <a:rPr dirty="0"/>
              <a:t>• Stakes too high to DIY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Commercial Clients Use Brokers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5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1. Expertise &amp; Knowledge: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Deep understanding of insurance products and coverage nuances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Industry-specific risk knowledge (healthcare vs. construction)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Regulatory and compliance guidance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Years of experience handling similar situations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2. Market Access &amp; Negotiation: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Relationships with 50-100+ insurance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Knowledge of which carriers best for which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Negotiating power from aggregated buying volume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Access to specialty markets client couldn't reach alone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D2D5-E850-BAF7-5E20-33389A60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BC2E9F-165B-D840-47FB-5CA5D395F0CA}"/>
              </a:ext>
            </a:extLst>
          </p:cNvPr>
          <p:cNvSpPr txBox="1"/>
          <p:nvPr/>
        </p:nvSpPr>
        <p:spPr>
          <a:xfrm>
            <a:off x="640080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Why Commercial Clients Use Brokers 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85DD9-3CFF-B251-125E-4336CDB80E4C}"/>
              </a:ext>
            </a:extLst>
          </p:cNvPr>
          <p:cNvSpPr txBox="1"/>
          <p:nvPr/>
        </p:nvSpPr>
        <p:spPr>
          <a:xfrm>
            <a:off x="543098" y="507544"/>
            <a:ext cx="7863840" cy="635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3. Risk Advisory: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Identify risks client didn't know existed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Risk mitigation strategies beyond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Total cost of risk optimization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Business continuity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4. Time &amp; Complexity: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Insurance is not client's core business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Too complex for CFO/risk manager to handle alone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handles heavy lifting (RFPs, negotiations, admin)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5. Claims Advocacy: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Fight for client when carrier disputes claim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Navigate complex claims processes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Maximize settlements</a:t>
            </a:r>
          </a:p>
        </p:txBody>
      </p:sp>
    </p:spTree>
    <p:extLst>
      <p:ext uri="{BB962C8B-B14F-4D97-AF65-F5344CB8AC3E}">
        <p14:creationId xmlns:p14="http://schemas.microsoft.com/office/powerpoint/2010/main" val="1522396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 Example: Why You Can't Just 'Google It'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Scenario: Mid-Size Manufacturing Company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What Google/AI Can Tell You: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'You need general liability, property, workers' comp, product liability'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Premium quotes from carriers willing to quote online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Definition of coverage terms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What Google/AI CANNOT Tell You: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1. Hidden Exposure: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Your new product line contains materials classified as hazardous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Standard pollution exclusion means no coverage for incident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Need specialty environmental liability policy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(You didn't even know to ask about this)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F242-43FC-B3BA-340D-9B9C1D38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7AF00-50DB-ADCD-6073-AE3078269019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 Example: Why You Can't Just 'Google It'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7A2B2-4B56-29B7-E072-CF858D76440B}"/>
              </a:ext>
            </a:extLst>
          </p:cNvPr>
          <p:cNvSpPr txBox="1"/>
          <p:nvPr/>
        </p:nvSpPr>
        <p:spPr>
          <a:xfrm>
            <a:off x="640080" y="1280160"/>
            <a:ext cx="7863840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2. Coverage Gaps: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Your contract with major customer requires $10M liability limit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Your policy only provides $5M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Need umbrella policy to bridge gap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(AI quote tool wouldn't catch this)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3. Claims History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Your loss ratio from past claims makes you 'tough risk'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Most carriers will decline to quote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knows which 3-4 carriers will still consider you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Can negotiate based on risk improvements you've made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(You'd waste weeks getting rejected)</a:t>
            </a:r>
          </a:p>
        </p:txBody>
      </p:sp>
    </p:spTree>
    <p:extLst>
      <p:ext uri="{BB962C8B-B14F-4D97-AF65-F5344CB8AC3E}">
        <p14:creationId xmlns:p14="http://schemas.microsoft.com/office/powerpoint/2010/main" val="1300279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Threat: AI IS Getting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What's Changing: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1. AI Can Now Handle More Complexity: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Large Language Models (LLMs) can analyze policies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Computer vision can assess property risk from photos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ML models predict risk more accurately than humans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2. Data Availability: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More data = better AI models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IoT sensors (telematics, building sensors) provide real-time risk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Public data (satellite imagery, weather, demographics)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C67D-346D-CB69-632F-32772F1D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7D5FA-F2EB-6DD6-3E9D-1C84DA83A18B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Threat: AI IS Getting Better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86CCB-2B00-6801-C363-DE6C3D2B3515}"/>
              </a:ext>
            </a:extLst>
          </p:cNvPr>
          <p:cNvSpPr txBox="1"/>
          <p:nvPr/>
        </p:nvSpPr>
        <p:spPr>
          <a:xfrm>
            <a:off x="640080" y="1097280"/>
            <a:ext cx="78638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3. </a:t>
            </a:r>
            <a:r>
              <a:rPr dirty="0" err="1"/>
              <a:t>InsurTech</a:t>
            </a:r>
            <a:r>
              <a:rPr dirty="0"/>
              <a:t> Innovation: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Next Insurance: Instant quotes for small business (no broker)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Corvus: Cyber insurance with AI-powered risk assessment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Coalition: Automated underwriting + active cyber defense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4. Client Expectations: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Younger buyers expect digital-first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Instant quotes, not 3-day broker turnaround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Self-service portals, not email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The Margin for Broker Value is Shrinking: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What required expert 10 years ago → AI can do today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What requires expert today → AI will do in 5 years</a:t>
            </a:r>
          </a:p>
        </p:txBody>
      </p:sp>
    </p:spTree>
    <p:extLst>
      <p:ext uri="{BB962C8B-B14F-4D97-AF65-F5344CB8AC3E}">
        <p14:creationId xmlns:p14="http://schemas.microsoft.com/office/powerpoint/2010/main" val="419325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Brokers Must Evolve to Survive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From Transaction Facilitator → To Strategic Advisor: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1. Move Up the Value Chain: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Commodity work (quotes, certificates) automated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Brokers focus on high-value advisory work: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Enterprise risk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Captive insurance feasibility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M&amp;A insurance due diligence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Risk financing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2. Technology-Enabled, Not Technology-Replaced: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AI handles routine 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focuses on complex judgments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Use data analytics to provide insights clients can't get elsewhere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Proactive risk identification using predictive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92A9A-BC91-6525-9EAA-99EAA5C8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28385-9045-91DC-CA4A-6330DC663E59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Brokers Must Evolve to Survive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A2967-616F-5401-D728-FA0057311B96}"/>
              </a:ext>
            </a:extLst>
          </p:cNvPr>
          <p:cNvSpPr txBox="1"/>
          <p:nvPr/>
        </p:nvSpPr>
        <p:spPr>
          <a:xfrm>
            <a:off x="640080" y="1280160"/>
            <a:ext cx="7863840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3. Deep Specialization: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Cannot be generalist anymore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Industry expertise that AI can't replicate (yet):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Healthcare regulatory landscape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Construction project insurance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Tech company cyber risk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Specialized knowledge = defensible moat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4. Outcome-Based, Not Product-Based: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Client doesn't want insurance, they want risk protection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ensures business continuity, not just sells policies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Focus on total cost of risk, not just premium</a:t>
            </a:r>
          </a:p>
        </p:txBody>
      </p:sp>
    </p:spTree>
    <p:extLst>
      <p:ext uri="{BB962C8B-B14F-4D97-AF65-F5344CB8AC3E}">
        <p14:creationId xmlns:p14="http://schemas.microsoft.com/office/powerpoint/2010/main" val="1034297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Lockton Specifically (vs. AI or Direct)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Lockton's Defensible Advantages: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Relationship &amp; Trust: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ownership = brokers truly invested in client success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Long-term relationships (clients stay 10+ years)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Know client's business evolution, anticipate needs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be replicated by algorithm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Complex Problem-Solving: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Multi-national programs across 50+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Unique risks requiring creative solutions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negotiations for tough placements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disputes requiring expert advocacy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Strategic Advisory: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management consulting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Captive feasibility and 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Alternative risk financing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control and safety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Market Access: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Relationships with 100+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to specialty and niche markets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Volume leverage for pricing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Where Lockton Is Vulnerable: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Simple, commoditized risks (small accounts)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who prioritize price over service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sophistication (portal, analytics)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Client Segmentation: Who Needs Brokers?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HIGH BROKER VALUE (Lockton Sweet Spot):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Large Commercial / Enterprise: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Complex, multi-location operations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$50M-$500M+ in revenue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Unique or hard-to-place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Multi-national coverage needs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 touch service expectations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Specialty Industries: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Healthcare, construction, energy, aviation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Require specialized expertise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Regulations and compliance complexity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MEDIUM BROKER VALUE (Contested Territory):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Mid-Market: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$10M-$50M revenue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complexity but increasingly commoditized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Price-sensitive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AI/InsurTech targeting this segment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LOW BROKER VALUE (Being Disrupted):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Small Business &amp; Personal: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&lt;$10M revenue or individuals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 risks, simple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 and AI-powered solutions winning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Future: Human + AI, Not Human vs.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Winning Model: AI Does Routine, Humans Do Judgment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AI/Automation Handles: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Quote generation for standard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 issuance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reminders and follow-ups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entry and policy administration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First-level claims intake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Basic client questions (chatbot)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processing (OCR, data extraction)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calculations and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Human Broker Handles: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 risk assessment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Non-standard coverage design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negotiation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Strategic risk advisory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disputes and advocacy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Relationship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Industry-specific expertise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Judgment calls on trade-offs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Result: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become 10x more productive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high-value 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Better client experience (fast + smart)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Sustainable competitive advantage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Industry Data: Direct vs. Broker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Personal Lines (Auto, Home, Life):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Direct-to-consumer: 40% market share and growing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Traditional agents: 35% market share and declining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InsurTech: 5% market share but fastest-growing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Trend: Brokers/agents losing ground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Small Commercial (&lt;$10M revenue):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still dominant: 70% market share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Direct/online: 15% market share and growing rapidly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InsurTech: 5% market share but expanding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Trend: Pressure increasing, margins compressing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Mid-Market Commercial ($10M-$500M):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Brokers: 90% market share (still strong)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Direct: Minimal (too complex for self-service)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Trend: Brokers entrenched but need technology to stay relevant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Large Commercial / Enterprise (&gt;$500M):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Brokers: 95%+ market share (very strong)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Direct: None (too complex)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Trend: Brokers safe for foreseeable future, but AI augmentation essential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Insight: Complexity = Broker Defensibility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Clients Say: When Broker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CFO of $200M Manufacturing Company: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"I tried to buy insurance online to save money. Got a quote in 5 minutes."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"Then we had a $2M claim. The carrier denied it, citing an exclusion I didn't understand."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"My broker fought for us, brought in an outside expert, got the claim covered."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"Saved the company. That's when I understood the value."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---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Risk Manager of Healthcare System: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"We have 15 hospitals, clinics, ambulances, employed physicians, research labs."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"Our risk profile is incredibly complex. No online tool can handle it."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"Our broker saved us $3M by restructuring our program. Worth every penny."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---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Theme: When Stakes Are High, Expertise Matters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Stark Reality for Brokers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Three Possible Futures: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Status Quo (Unlikely to Survive):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continue traditional model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Rely on relationships alone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Minimal technology investment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Result: Slow death as AI eats away at margins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Full Disruption (Also Unlikely):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 completely replaces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All insurance bought direct online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human intermediaries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Result: Unlikely for complex commercial, but possible for simple risks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Hybrid Evolution (Most Likely):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embrace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 handles routine, humans handle judgment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shifts to advisory and complex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Commodity business lost, but high-value retained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Result: Fewer brokers, but more valuable and higher-paid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Bottom 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Brokers who don't evolve will die.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Those who embrace AI + specialize + provide real advisory value will thrive.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Lockton Should Respond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Strategic Imperatives: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Invest Heavily in Technology: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compete on relationships alone anymore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portal, analytics, automation essential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Use AI to augment brokers, not replace them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Move Up-Market: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Exit small, commodity accounts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complex, high-value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Where expertise and relationships still matter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Deepen Specialization: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 verticals (healthcare, construction, tech)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 risk types (cyber, captives, international)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expertise AI can't replicate (yet)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Redefine Value Proposition: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From 'we get you insurance' → 'we optimize your risk'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Advisory and strategic, not transactional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Proactive risk management, not reactive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Embrace Hybrid Model: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 for efficiency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Humans for judgment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Best of both worlds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This Matters for Delivery Manager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As Delivery Manager at Lockton, You're at the Center of This Transformation: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Your Role in Preserving Broker Value: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Technology Enablement: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the tools that make brokers 10x more productive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Automate the commodity work (quotes, certificates)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Free brokers to focus on high-value advisory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Client Experience: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Digital portal that competes with InsurTech UX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Self-service for routine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and analytics that clients can't get elsewhere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Data &amp; Analytics: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Predictive insights that demonstrate value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Proactive risk identification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Benchmarking and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Competitive Positioning: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Close technology gap vs. Marsh/Aon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Enable Lockton to compete at enterprise level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Differentiate on service + technology (not just service)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You're Not Just Delivering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You're helping Lockton survive and thrive in an AI-disrupted industry.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Summary: The Answer to Your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"Why should customers use brokers in the AI world?"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SHORT ANSWER: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For simple risks: They shouldn't (and increasingly won't)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For complex risks: AI can't (yet) replicate judgment, relationships, expertise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LONGER ANSWER: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is complex and high-stakes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Wrong coverage = business-ending losses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provide: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Expertise to assess unique risks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Market access and negotiation power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Claims advocacy when disputes arise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Strategic advisory beyond just buying policies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BUT: Brokers must evolve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Embrace AI for 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Focus on complexity and advisory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Technology-enabled, not technology-replaced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LOCKTON'S 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ownership = long-term investment in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ownership = aligned incentives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Middle market focus = defensible niche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excellence + technology = winning combination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future isn't Human OR AI. It's Human AND AI.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2487</Words>
  <Application>Microsoft Macintosh PowerPoint</Application>
  <PresentationFormat>On-screen Show (4:3)</PresentationFormat>
  <Paragraphs>459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kumar</cp:lastModifiedBy>
  <cp:revision>2</cp:revision>
  <dcterms:created xsi:type="dcterms:W3CDTF">2013-01-27T09:14:16Z</dcterms:created>
  <dcterms:modified xsi:type="dcterms:W3CDTF">2026-02-12T17:00:45Z</dcterms:modified>
  <cp:category/>
</cp:coreProperties>
</file>