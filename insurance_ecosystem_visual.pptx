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24"/>
  </p:normalViewPr>
  <p:slideViewPr>
    <p:cSldViewPr snapToGrid="0" snapToObjects="1">
      <p:cViewPr varScale="1">
        <p:scale>
          <a:sx n="92" d="100"/>
          <a:sy n="92" d="100"/>
        </p:scale>
        <p:origin x="2200" y="4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t>Insurance Ecosystem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444444"/>
                </a:solidFill>
              </a:defRPr>
            </a:pPr>
            <a:r>
              <a:t>Players, Roles &amp; Interactions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3366"/>
                </a:solidFill>
              </a:defRPr>
            </a:pPr>
            <a:r>
              <a:t>Insurance Ecosystem - Key Players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429000" y="5486400"/>
            <a:ext cx="2286000" cy="914400"/>
          </a:xfrm>
          <a:prstGeom prst="roundRect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CUSTOMER</a:t>
            </a:r>
          </a:p>
          <a:p>
            <a:pPr algn="ctr">
              <a:defRPr sz="1600" b="1">
                <a:solidFill>
                  <a:srgbClr val="FFFFFF"/>
                </a:solidFill>
              </a:defRPr>
            </a:pPr>
            <a:r>
              <a:t>(Individual/Business)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3200400"/>
            <a:ext cx="2011680" cy="914400"/>
          </a:xfrm>
          <a:prstGeom prst="roundRect">
            <a:avLst/>
          </a:prstGeom>
          <a:solidFill>
            <a:srgbClr val="2ECC7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BROKER</a:t>
            </a:r>
          </a:p>
          <a:p>
            <a:pPr algn="ctr">
              <a:defRPr sz="1400" b="1">
                <a:solidFill>
                  <a:srgbClr val="FFFFFF"/>
                </a:solidFill>
              </a:defRPr>
            </a:pPr>
            <a:r>
              <a:t>(e.g., Lockton, Marsh)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0" y="3200400"/>
            <a:ext cx="2011680" cy="914400"/>
          </a:xfrm>
          <a:prstGeom prst="roundRect">
            <a:avLst/>
          </a:prstGeom>
          <a:solidFill>
            <a:srgbClr val="9B59B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AGENT</a:t>
            </a:r>
          </a:p>
          <a:p>
            <a:pPr algn="ctr">
              <a:defRPr sz="1400" b="1">
                <a:solidFill>
                  <a:srgbClr val="FFFFFF"/>
                </a:solidFill>
              </a:defRPr>
            </a:pPr>
            <a:r>
              <a:t>(Captive/Independent)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1097280"/>
            <a:ext cx="2743200" cy="914400"/>
          </a:xfrm>
          <a:prstGeom prst="roundRect">
            <a:avLst/>
          </a:prstGeom>
          <a:solidFill>
            <a:srgbClr val="E74C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INSURANCE CARRIER</a:t>
            </a:r>
          </a:p>
          <a:p>
            <a:pPr algn="ctr">
              <a:defRPr sz="1600" b="1">
                <a:solidFill>
                  <a:srgbClr val="FFFFFF"/>
                </a:solidFill>
              </a:defRPr>
            </a:pPr>
            <a:r>
              <a:t>(Insurer - Bears Risk)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097280"/>
            <a:ext cx="2286000" cy="731520"/>
          </a:xfrm>
          <a:prstGeom prst="roundRect">
            <a:avLst/>
          </a:prstGeom>
          <a:solidFill>
            <a:srgbClr val="F1C40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1400" b="1">
                <a:solidFill>
                  <a:srgbClr val="000000"/>
                </a:solidFill>
              </a:defRPr>
            </a:pPr>
            <a:r>
              <a:t>REINSURER</a:t>
            </a:r>
          </a:p>
        </p:txBody>
      </p:sp>
      <p:cxnSp>
        <p:nvCxnSpPr>
          <p:cNvPr id="8" name="Connector 7"/>
          <p:cNvCxnSpPr/>
          <p:nvPr/>
        </p:nvCxnSpPr>
        <p:spPr>
          <a:xfrm flipH="1" flipV="1">
            <a:off x="1463040" y="4114800"/>
            <a:ext cx="2651760" cy="1371600"/>
          </a:xfrm>
          <a:prstGeom prst="line">
            <a:avLst/>
          </a:prstGeom>
          <a:ln w="25400">
            <a:solidFill>
              <a:srgbClr val="2ECC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880360" y="4562302"/>
            <a:ext cx="10972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2ECC71"/>
            </a:solidFill>
          </a:ln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2ECC71"/>
                </a:solidFill>
              </a:defRPr>
            </a:pPr>
            <a:r>
              <a:t>Seeks Coverage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828800" y="4114800"/>
            <a:ext cx="2011680" cy="1371600"/>
          </a:xfrm>
          <a:prstGeom prst="line">
            <a:avLst/>
          </a:prstGeom>
          <a:ln w="25400">
            <a:solidFill>
              <a:srgbClr val="2ECC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920240" y="5052060"/>
            <a:ext cx="10972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2ECC71"/>
            </a:solidFill>
          </a:ln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2ECC71"/>
                </a:solidFill>
              </a:defRPr>
            </a:pPr>
            <a:r>
              <a:t>Advisory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5029200" y="4114800"/>
            <a:ext cx="2468879" cy="1371600"/>
          </a:xfrm>
          <a:prstGeom prst="line">
            <a:avLst/>
          </a:prstGeom>
          <a:ln w="25400">
            <a:solidFill>
              <a:srgbClr val="9B59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806440" y="5257800"/>
            <a:ext cx="10972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9B59B6"/>
            </a:solidFill>
          </a:ln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9B59B6"/>
                </a:solidFill>
              </a:defRPr>
            </a:pPr>
            <a:r>
              <a:t>Buys Policy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5303520" y="4114800"/>
            <a:ext cx="1828800" cy="1371600"/>
          </a:xfrm>
          <a:prstGeom prst="line">
            <a:avLst/>
          </a:prstGeom>
          <a:ln w="25400">
            <a:solidFill>
              <a:srgbClr val="9B59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394960" y="4206240"/>
            <a:ext cx="10972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9B59B6"/>
            </a:solidFill>
          </a:ln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9B59B6"/>
                </a:solidFill>
              </a:defRPr>
            </a:pPr>
            <a:r>
              <a:t>Sells Policy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1463040" y="2011680"/>
            <a:ext cx="2651760" cy="1188720"/>
          </a:xfrm>
          <a:prstGeom prst="line">
            <a:avLst/>
          </a:prstGeom>
          <a:ln w="25400">
            <a:solidFill>
              <a:srgbClr val="E74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240280" y="2423160"/>
            <a:ext cx="10972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74C3C"/>
            </a:solidFill>
          </a:ln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E74C3C"/>
                </a:solidFill>
              </a:defRPr>
            </a:pPr>
            <a:r>
              <a:t>Places Risk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2011680" y="2011680"/>
            <a:ext cx="3017520" cy="1188720"/>
          </a:xfrm>
          <a:prstGeom prst="line">
            <a:avLst/>
          </a:prstGeom>
          <a:ln w="25400">
            <a:solidFill>
              <a:srgbClr val="2ECC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743200" y="2830484"/>
            <a:ext cx="10972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2ECC71"/>
            </a:solidFill>
          </a:ln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2ECC71"/>
                </a:solidFill>
              </a:defRPr>
            </a:pPr>
            <a:r>
              <a:rPr dirty="0"/>
              <a:t>Quote/Policy</a:t>
            </a:r>
          </a:p>
        </p:txBody>
      </p:sp>
      <p:cxnSp>
        <p:nvCxnSpPr>
          <p:cNvPr id="20" name="Connector 19"/>
          <p:cNvCxnSpPr/>
          <p:nvPr/>
        </p:nvCxnSpPr>
        <p:spPr>
          <a:xfrm flipH="1" flipV="1">
            <a:off x="5029200" y="2011680"/>
            <a:ext cx="2651760" cy="1188720"/>
          </a:xfrm>
          <a:prstGeom prst="line">
            <a:avLst/>
          </a:prstGeom>
          <a:ln w="25400">
            <a:solidFill>
              <a:srgbClr val="E74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086600" y="2617816"/>
            <a:ext cx="10972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74C3C"/>
            </a:solidFill>
          </a:ln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E74C3C"/>
                </a:solidFill>
              </a:defRPr>
            </a:pPr>
            <a:r>
              <a:t>Submits Apps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486400" y="2011680"/>
            <a:ext cx="1645920" cy="1188720"/>
          </a:xfrm>
          <a:prstGeom prst="line">
            <a:avLst/>
          </a:prstGeom>
          <a:ln w="25400">
            <a:solidFill>
              <a:srgbClr val="9B59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454535" y="2830484"/>
            <a:ext cx="10972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9B59B6"/>
            </a:solidFill>
          </a:ln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9B59B6"/>
                </a:solidFill>
              </a:defRPr>
            </a:pPr>
            <a:r>
              <a:rPr dirty="0"/>
              <a:t>Commission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943600" y="1463040"/>
            <a:ext cx="457200" cy="0"/>
          </a:xfrm>
          <a:prstGeom prst="line">
            <a:avLst/>
          </a:prstGeom>
          <a:ln w="25400">
            <a:solidFill>
              <a:srgbClr val="F1C4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623560" y="1280160"/>
            <a:ext cx="10972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1C40F"/>
            </a:solidFill>
          </a:ln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1C40F"/>
                </a:solidFill>
              </a:defRPr>
            </a:pPr>
            <a:r>
              <a:t>Transfers Risk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3366"/>
                </a:solidFill>
              </a:defRPr>
            </a:pPr>
            <a:r>
              <a:t>Customer (Policyholder)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00400" y="1097280"/>
            <a:ext cx="2119745" cy="548640"/>
          </a:xfrm>
          <a:prstGeom prst="roundRect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CUSTOMER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1" y="1845425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rPr dirty="0"/>
              <a:t>Types of Customers:</a:t>
            </a:r>
          </a:p>
          <a:p>
            <a:endParaRPr dirty="0"/>
          </a:p>
          <a:p>
            <a:r>
              <a:rPr dirty="0"/>
              <a:t>• Individual/Personal</a:t>
            </a:r>
          </a:p>
          <a:p>
            <a:r>
              <a:rPr dirty="0"/>
              <a:t>  - Auto, home, life insurance</a:t>
            </a:r>
          </a:p>
          <a:p>
            <a:endParaRPr dirty="0"/>
          </a:p>
          <a:p>
            <a:r>
              <a:rPr dirty="0"/>
              <a:t>• Small Business</a:t>
            </a:r>
          </a:p>
          <a:p>
            <a:r>
              <a:rPr dirty="0"/>
              <a:t>  - General liability, property</a:t>
            </a:r>
          </a:p>
          <a:p>
            <a:endParaRPr dirty="0"/>
          </a:p>
          <a:p>
            <a:r>
              <a:rPr dirty="0"/>
              <a:t>• Corporate/Enterprise</a:t>
            </a:r>
          </a:p>
          <a:p>
            <a:r>
              <a:rPr dirty="0"/>
              <a:t>  - Complex risk programs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199" y="1745672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rPr dirty="0"/>
              <a:t>Customer Needs:</a:t>
            </a:r>
          </a:p>
          <a:p>
            <a:endParaRPr dirty="0"/>
          </a:p>
          <a:p>
            <a:r>
              <a:rPr dirty="0"/>
              <a:t>• Risk Protection</a:t>
            </a:r>
          </a:p>
          <a:p>
            <a:r>
              <a:rPr dirty="0"/>
              <a:t>  - Financial security against losses</a:t>
            </a:r>
          </a:p>
          <a:p>
            <a:endParaRPr dirty="0"/>
          </a:p>
          <a:p>
            <a:r>
              <a:rPr dirty="0"/>
              <a:t>• Peace of Mind</a:t>
            </a:r>
          </a:p>
          <a:p>
            <a:r>
              <a:rPr dirty="0"/>
              <a:t>  - Coverage for uncertainties</a:t>
            </a:r>
          </a:p>
          <a:p>
            <a:endParaRPr dirty="0"/>
          </a:p>
          <a:p>
            <a:r>
              <a:rPr dirty="0"/>
              <a:t>• Regulatory Compliance</a:t>
            </a:r>
          </a:p>
          <a:p>
            <a:r>
              <a:rPr dirty="0"/>
              <a:t>  - Mandatory insurance (auto, health)</a:t>
            </a:r>
          </a:p>
          <a:p>
            <a:endParaRPr dirty="0"/>
          </a:p>
          <a:p>
            <a:r>
              <a:rPr dirty="0"/>
              <a:t>• Cost Optimization</a:t>
            </a:r>
          </a:p>
          <a:p>
            <a:r>
              <a:rPr dirty="0"/>
              <a:t>  - Best coverage at best price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3964" y="4799214"/>
            <a:ext cx="73152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rPr dirty="0"/>
              <a:t>Customer Interactions:</a:t>
            </a:r>
          </a:p>
          <a:p>
            <a:endParaRPr dirty="0"/>
          </a:p>
          <a:p>
            <a:r>
              <a:rPr dirty="0"/>
              <a:t>→ Requests quotes from brokers/agents</a:t>
            </a:r>
          </a:p>
          <a:p>
            <a:r>
              <a:rPr dirty="0"/>
              <a:t>→ Provides information for underwriting (application, financials, risk details)</a:t>
            </a:r>
          </a:p>
          <a:p>
            <a:r>
              <a:rPr dirty="0"/>
              <a:t>→ Pays premiums (monthly/quarterly/annually)</a:t>
            </a:r>
          </a:p>
          <a:p>
            <a:r>
              <a:rPr dirty="0"/>
              <a:t>→ Files claims when losses occur</a:t>
            </a:r>
          </a:p>
          <a:p>
            <a:r>
              <a:rPr dirty="0"/>
              <a:t>→ Renews or switches coverage annually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3366"/>
                </a:solidFill>
              </a:defRPr>
            </a:pPr>
            <a:r>
              <a:t>Insurance Broker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463636" y="868680"/>
            <a:ext cx="2216727" cy="548640"/>
          </a:xfrm>
          <a:prstGeom prst="roundRect">
            <a:avLst/>
          </a:prstGeom>
          <a:solidFill>
            <a:srgbClr val="2ECC7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BROKER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4800" y="868680"/>
            <a:ext cx="36576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rPr dirty="0"/>
              <a:t>Broker Role:</a:t>
            </a:r>
          </a:p>
          <a:p>
            <a:endParaRPr dirty="0"/>
          </a:p>
          <a:p>
            <a:r>
              <a:rPr dirty="0"/>
              <a:t>• Client Advocate</a:t>
            </a:r>
          </a:p>
          <a:p>
            <a:r>
              <a:rPr dirty="0"/>
              <a:t>  - Represents client interests</a:t>
            </a:r>
          </a:p>
          <a:p>
            <a:r>
              <a:rPr dirty="0"/>
              <a:t>  - Independent (not tied to carrier)</a:t>
            </a:r>
          </a:p>
          <a:p>
            <a:endParaRPr dirty="0"/>
          </a:p>
          <a:p>
            <a:r>
              <a:rPr dirty="0"/>
              <a:t>• Market Access</a:t>
            </a:r>
          </a:p>
          <a:p>
            <a:r>
              <a:rPr dirty="0"/>
              <a:t>  - Relationships with multiple carriers</a:t>
            </a:r>
          </a:p>
          <a:p>
            <a:r>
              <a:rPr dirty="0"/>
              <a:t>  - Can shop best coverage/price</a:t>
            </a:r>
          </a:p>
          <a:p>
            <a:endParaRPr dirty="0"/>
          </a:p>
          <a:p>
            <a:r>
              <a:rPr dirty="0"/>
              <a:t>• Expert Advisor</a:t>
            </a:r>
          </a:p>
          <a:p>
            <a:r>
              <a:rPr dirty="0"/>
              <a:t>  - Risk assessment</a:t>
            </a:r>
          </a:p>
          <a:p>
            <a:r>
              <a:rPr dirty="0"/>
              <a:t>  - Coverage recommendations</a:t>
            </a:r>
          </a:p>
          <a:p>
            <a:endParaRPr dirty="0"/>
          </a:p>
          <a:p>
            <a:r>
              <a:rPr dirty="0"/>
              <a:t>• Claims Support</a:t>
            </a:r>
          </a:p>
          <a:p>
            <a:r>
              <a:rPr dirty="0"/>
              <a:t>  - Advocates for client with carrier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80363" y="822960"/>
            <a:ext cx="36576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rPr dirty="0"/>
              <a:t>Broker Value Proposition:</a:t>
            </a:r>
          </a:p>
          <a:p>
            <a:endParaRPr dirty="0"/>
          </a:p>
          <a:p>
            <a:r>
              <a:rPr dirty="0"/>
              <a:t>✓ Negotiating Power</a:t>
            </a:r>
          </a:p>
          <a:p>
            <a:r>
              <a:rPr dirty="0"/>
              <a:t>  - Leverage volume for better terms</a:t>
            </a:r>
          </a:p>
          <a:p>
            <a:endParaRPr dirty="0"/>
          </a:p>
          <a:p>
            <a:r>
              <a:rPr dirty="0"/>
              <a:t>✓ Expertise</a:t>
            </a:r>
          </a:p>
          <a:p>
            <a:r>
              <a:rPr dirty="0"/>
              <a:t>  - Deep insurance knowledge</a:t>
            </a:r>
          </a:p>
          <a:p>
            <a:endParaRPr dirty="0"/>
          </a:p>
          <a:p>
            <a:r>
              <a:rPr dirty="0"/>
              <a:t>✓ Time Savings</a:t>
            </a:r>
          </a:p>
          <a:p>
            <a:r>
              <a:rPr dirty="0"/>
              <a:t>  - Shop multiple carriers for client</a:t>
            </a:r>
          </a:p>
          <a:p>
            <a:endParaRPr dirty="0"/>
          </a:p>
          <a:p>
            <a:r>
              <a:rPr dirty="0"/>
              <a:t>✓ Ongoing Service</a:t>
            </a:r>
          </a:p>
          <a:p>
            <a:r>
              <a:rPr dirty="0"/>
              <a:t>  - Policy reviews, renewals</a:t>
            </a:r>
          </a:p>
          <a:p>
            <a:endParaRPr dirty="0"/>
          </a:p>
          <a:p>
            <a:r>
              <a:rPr dirty="0"/>
              <a:t>✓ Claims Advocacy</a:t>
            </a:r>
          </a:p>
          <a:p>
            <a:r>
              <a:rPr dirty="0"/>
              <a:t>  - Fight for fair settlements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4800" y="5257800"/>
            <a:ext cx="73152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rPr dirty="0"/>
              <a:t>Broker Revenue Model:</a:t>
            </a:r>
          </a:p>
          <a:p>
            <a:endParaRPr dirty="0"/>
          </a:p>
          <a:p>
            <a:r>
              <a:rPr dirty="0"/>
              <a:t>• Commission: % of premium paid by carrier to broker (10-20% typical)</a:t>
            </a:r>
          </a:p>
          <a:p>
            <a:r>
              <a:rPr dirty="0"/>
              <a:t>• Fees: Direct fees from clients for advisory services</a:t>
            </a:r>
          </a:p>
          <a:p>
            <a:r>
              <a:rPr dirty="0"/>
              <a:t>• Aligned Incentives: Makes money through client retention and renewals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3366"/>
                </a:solidFill>
              </a:defRPr>
            </a:pPr>
            <a:r>
              <a:t>Insurance Agent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706091" y="822960"/>
            <a:ext cx="1731818" cy="648393"/>
          </a:xfrm>
          <a:prstGeom prst="roundRect">
            <a:avLst/>
          </a:prstGeom>
          <a:solidFill>
            <a:srgbClr val="9B59B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4114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rPr dirty="0"/>
              <a:t>Types of Agents:</a:t>
            </a:r>
          </a:p>
          <a:p>
            <a:endParaRPr dirty="0"/>
          </a:p>
          <a:p>
            <a:r>
              <a:rPr dirty="0"/>
              <a:t>• Captive Agent</a:t>
            </a:r>
          </a:p>
          <a:p>
            <a:r>
              <a:rPr dirty="0"/>
              <a:t>  - Works for ONE insurance company</a:t>
            </a:r>
          </a:p>
          <a:p>
            <a:r>
              <a:rPr dirty="0"/>
              <a:t>  - Example: State Farm, Allstate agents</a:t>
            </a:r>
          </a:p>
          <a:p>
            <a:r>
              <a:rPr dirty="0"/>
              <a:t>  - Limited to that carrier's products</a:t>
            </a:r>
          </a:p>
          <a:p>
            <a:r>
              <a:rPr dirty="0"/>
              <a:t>  - Receives salary + commission</a:t>
            </a:r>
          </a:p>
          <a:p>
            <a:endParaRPr dirty="0"/>
          </a:p>
          <a:p>
            <a:r>
              <a:rPr dirty="0"/>
              <a:t>• Independent Agent</a:t>
            </a:r>
          </a:p>
          <a:p>
            <a:r>
              <a:rPr dirty="0"/>
              <a:t>  - Represents MULTIPLE carriers</a:t>
            </a:r>
          </a:p>
          <a:p>
            <a:r>
              <a:rPr dirty="0"/>
              <a:t>  - Can offer choices to customers</a:t>
            </a:r>
          </a:p>
          <a:p>
            <a:r>
              <a:rPr dirty="0"/>
              <a:t>  - Commission-based</a:t>
            </a:r>
          </a:p>
          <a:p>
            <a:r>
              <a:rPr dirty="0"/>
              <a:t>  - More like a small broker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37909" y="876993"/>
            <a:ext cx="36576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rPr dirty="0"/>
              <a:t>Agent vs. Broker:</a:t>
            </a:r>
          </a:p>
          <a:p>
            <a:endParaRPr dirty="0"/>
          </a:p>
          <a:p>
            <a:r>
              <a:rPr dirty="0"/>
              <a:t>• Size</a:t>
            </a:r>
          </a:p>
          <a:p>
            <a:r>
              <a:rPr dirty="0"/>
              <a:t>  - Agents: Small (1-10 people)</a:t>
            </a:r>
          </a:p>
          <a:p>
            <a:r>
              <a:rPr dirty="0"/>
              <a:t>  - Brokers: Large (100s-1000s)</a:t>
            </a:r>
          </a:p>
          <a:p>
            <a:endParaRPr dirty="0"/>
          </a:p>
          <a:p>
            <a:r>
              <a:rPr dirty="0"/>
              <a:t>• Market</a:t>
            </a:r>
          </a:p>
          <a:p>
            <a:r>
              <a:rPr dirty="0"/>
              <a:t>  - Agents: Personal lines, small business</a:t>
            </a:r>
          </a:p>
          <a:p>
            <a:r>
              <a:rPr dirty="0"/>
              <a:t>  - Brokers: Commercial, enterprise</a:t>
            </a:r>
          </a:p>
          <a:p>
            <a:endParaRPr dirty="0"/>
          </a:p>
          <a:p>
            <a:r>
              <a:rPr dirty="0"/>
              <a:t>• Relationship</a:t>
            </a:r>
          </a:p>
          <a:p>
            <a:r>
              <a:rPr dirty="0"/>
              <a:t>  - Captive agent = works for carrier</a:t>
            </a:r>
          </a:p>
          <a:p>
            <a:r>
              <a:rPr dirty="0"/>
              <a:t>  - Broker = works for client</a:t>
            </a:r>
          </a:p>
          <a:p>
            <a:endParaRPr dirty="0"/>
          </a:p>
          <a:p>
            <a:r>
              <a:rPr dirty="0"/>
              <a:t>• Revenue</a:t>
            </a:r>
          </a:p>
          <a:p>
            <a:r>
              <a:rPr dirty="0"/>
              <a:t>  - Both earn commissions</a:t>
            </a:r>
          </a:p>
          <a:p>
            <a:r>
              <a:rPr dirty="0"/>
              <a:t>  - Brokers also charge fees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73152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Typical Agent Customers:</a:t>
            </a:r>
          </a:p>
          <a:p>
            <a:endParaRPr/>
          </a:p>
          <a:p>
            <a:r>
              <a:t>• Individuals: Auto, home, life insurance</a:t>
            </a:r>
          </a:p>
          <a:p>
            <a:r>
              <a:t>• Small businesses: General liability, commercial auto, property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3366"/>
                </a:solidFill>
              </a:defRPr>
            </a:pPr>
            <a:r>
              <a:t>Insurance Carrier (Insurer)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0" y="822960"/>
            <a:ext cx="3657600" cy="548640"/>
          </a:xfrm>
          <a:prstGeom prst="roundRect">
            <a:avLst/>
          </a:prstGeom>
          <a:solidFill>
            <a:srgbClr val="E74C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INSURANCE CARRIER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8655" y="685800"/>
            <a:ext cx="4114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rPr dirty="0"/>
              <a:t>Carrier Role:</a:t>
            </a:r>
          </a:p>
          <a:p>
            <a:endParaRPr dirty="0"/>
          </a:p>
          <a:p>
            <a:r>
              <a:rPr dirty="0"/>
              <a:t>• Risk Bearer</a:t>
            </a:r>
          </a:p>
          <a:p>
            <a:r>
              <a:rPr dirty="0"/>
              <a:t>  - Assumes financial risk from policyholder</a:t>
            </a:r>
          </a:p>
          <a:p>
            <a:r>
              <a:rPr dirty="0"/>
              <a:t>  - Promises to pay claims</a:t>
            </a:r>
          </a:p>
          <a:p>
            <a:endParaRPr dirty="0"/>
          </a:p>
          <a:p>
            <a:r>
              <a:rPr dirty="0"/>
              <a:t>• Underwriting</a:t>
            </a:r>
          </a:p>
          <a:p>
            <a:r>
              <a:rPr dirty="0"/>
              <a:t>  - Evaluates and prices risk</a:t>
            </a:r>
          </a:p>
          <a:p>
            <a:r>
              <a:rPr dirty="0"/>
              <a:t>  - Decides who to insure</a:t>
            </a:r>
          </a:p>
          <a:p>
            <a:endParaRPr dirty="0"/>
          </a:p>
          <a:p>
            <a:r>
              <a:rPr dirty="0"/>
              <a:t>• Claims Management</a:t>
            </a:r>
          </a:p>
          <a:p>
            <a:r>
              <a:rPr dirty="0"/>
              <a:t>  - Investigates and pays claims</a:t>
            </a:r>
          </a:p>
          <a:p>
            <a:r>
              <a:rPr dirty="0"/>
              <a:t>  - Manages reserves for future claims</a:t>
            </a:r>
          </a:p>
          <a:p>
            <a:endParaRPr dirty="0"/>
          </a:p>
          <a:p>
            <a:r>
              <a:rPr dirty="0"/>
              <a:t>• Product Development</a:t>
            </a:r>
          </a:p>
          <a:p>
            <a:r>
              <a:rPr dirty="0"/>
              <a:t>  - Creates insurance products</a:t>
            </a:r>
          </a:p>
          <a:p>
            <a:r>
              <a:rPr dirty="0"/>
              <a:t>  - Sets coverage terms and pricing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90655" y="1371600"/>
            <a:ext cx="36576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rPr dirty="0"/>
              <a:t>Business Model:</a:t>
            </a:r>
          </a:p>
          <a:p>
            <a:endParaRPr dirty="0"/>
          </a:p>
          <a:p>
            <a:r>
              <a:rPr dirty="0"/>
              <a:t>• Revenue:</a:t>
            </a:r>
          </a:p>
          <a:p>
            <a:r>
              <a:rPr dirty="0"/>
              <a:t>  - Premiums from policyholders</a:t>
            </a:r>
          </a:p>
          <a:p>
            <a:r>
              <a:rPr dirty="0"/>
              <a:t>  - Investment income (invest reserves)</a:t>
            </a:r>
          </a:p>
          <a:p>
            <a:endParaRPr dirty="0"/>
          </a:p>
          <a:p>
            <a:r>
              <a:rPr dirty="0"/>
              <a:t>• Costs:</a:t>
            </a:r>
          </a:p>
          <a:p>
            <a:r>
              <a:rPr dirty="0"/>
              <a:t>  - Claims payouts (largest expense)</a:t>
            </a:r>
          </a:p>
          <a:p>
            <a:r>
              <a:rPr dirty="0"/>
              <a:t>  - Operating expenses (staff, tech)</a:t>
            </a:r>
          </a:p>
          <a:p>
            <a:r>
              <a:rPr dirty="0"/>
              <a:t>  - Reinsurance premiums</a:t>
            </a:r>
          </a:p>
          <a:p>
            <a:endParaRPr dirty="0"/>
          </a:p>
          <a:p>
            <a:r>
              <a:rPr dirty="0"/>
              <a:t>• Profitability:</a:t>
            </a:r>
          </a:p>
          <a:p>
            <a:r>
              <a:rPr dirty="0"/>
              <a:t>  - Underwriting profit = premiums - claims</a:t>
            </a:r>
          </a:p>
          <a:p>
            <a:r>
              <a:rPr dirty="0"/>
              <a:t>  - Combined ratio &lt;100% = profitable</a:t>
            </a:r>
          </a:p>
          <a:p>
            <a:r>
              <a:rPr dirty="0"/>
              <a:t>  - Must maintain capital reserves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5486400"/>
            <a:ext cx="73152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rPr dirty="0"/>
              <a:t>Example Carriers:</a:t>
            </a:r>
          </a:p>
          <a:p>
            <a:endParaRPr dirty="0"/>
          </a:p>
          <a:p>
            <a:r>
              <a:rPr dirty="0"/>
              <a:t>• Global: AIG, Zurich, Allianz, AXA, Chubb, Liberty Mutual</a:t>
            </a:r>
          </a:p>
          <a:p>
            <a:r>
              <a:rPr dirty="0"/>
              <a:t>• US: State Farm, Geico, Progressive, Travelers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3366"/>
                </a:solidFill>
              </a:defRPr>
            </a:pPr>
            <a:r>
              <a:t>Reinsurer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0" y="1097280"/>
            <a:ext cx="3657600" cy="548640"/>
          </a:xfrm>
          <a:prstGeom prst="roundRect">
            <a:avLst/>
          </a:prstGeom>
          <a:solidFill>
            <a:srgbClr val="F1C40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2600" b="1">
                <a:solidFill>
                  <a:srgbClr val="000000"/>
                </a:solidFill>
              </a:defRPr>
            </a:pPr>
            <a:r>
              <a:t>REINSURER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42902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rPr dirty="0"/>
              <a:t>What is Reinsurance?</a:t>
            </a:r>
          </a:p>
          <a:p>
            <a:endParaRPr dirty="0"/>
          </a:p>
          <a:p>
            <a:r>
              <a:rPr dirty="0"/>
              <a:t>• 'Insurance for Insurance Companies'</a:t>
            </a:r>
          </a:p>
          <a:p>
            <a:r>
              <a:rPr dirty="0"/>
              <a:t>• Carriers buy reinsurance to protect their own balance sheets</a:t>
            </a:r>
          </a:p>
          <a:p>
            <a:r>
              <a:rPr dirty="0"/>
              <a:t>• Transfers part of the risk from carrier to reinsurer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61607"/>
            <a:ext cx="4114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rPr dirty="0"/>
              <a:t>Why Reinsurance Exists:</a:t>
            </a:r>
          </a:p>
          <a:p>
            <a:endParaRPr dirty="0"/>
          </a:p>
          <a:p>
            <a:r>
              <a:rPr dirty="0"/>
              <a:t>• Catastrophe Protection</a:t>
            </a:r>
          </a:p>
          <a:p>
            <a:r>
              <a:rPr dirty="0"/>
              <a:t>  - If hurricane destroys 10,000 homes</a:t>
            </a:r>
          </a:p>
          <a:p>
            <a:r>
              <a:rPr dirty="0"/>
              <a:t>  - Carrier can't pay all claims alone</a:t>
            </a:r>
          </a:p>
          <a:p>
            <a:r>
              <a:rPr dirty="0"/>
              <a:t>  - Reinsurer shares the loss</a:t>
            </a:r>
          </a:p>
          <a:p>
            <a:endParaRPr dirty="0"/>
          </a:p>
          <a:p>
            <a:r>
              <a:rPr dirty="0"/>
              <a:t>• Capital Efficiency</a:t>
            </a:r>
          </a:p>
          <a:p>
            <a:r>
              <a:rPr dirty="0"/>
              <a:t>  - Carrier can write more policies</a:t>
            </a:r>
          </a:p>
          <a:p>
            <a:r>
              <a:rPr dirty="0"/>
              <a:t>  - Without holding massive reserves</a:t>
            </a:r>
          </a:p>
          <a:p>
            <a:endParaRPr dirty="0"/>
          </a:p>
          <a:p>
            <a:r>
              <a:rPr dirty="0"/>
              <a:t>• Risk Diversification</a:t>
            </a:r>
          </a:p>
          <a:p>
            <a:r>
              <a:rPr dirty="0"/>
              <a:t>  - Spread risk globally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3036916"/>
            <a:ext cx="36576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rPr dirty="0"/>
              <a:t>Types of Reinsurance:</a:t>
            </a:r>
          </a:p>
          <a:p>
            <a:endParaRPr dirty="0"/>
          </a:p>
          <a:p>
            <a:r>
              <a:rPr dirty="0"/>
              <a:t>• Treaty Reinsurance</a:t>
            </a:r>
          </a:p>
          <a:p>
            <a:r>
              <a:rPr dirty="0"/>
              <a:t>  - Automatic coverage</a:t>
            </a:r>
          </a:p>
          <a:p>
            <a:r>
              <a:rPr dirty="0"/>
              <a:t>  - All policies in a category</a:t>
            </a:r>
          </a:p>
          <a:p>
            <a:r>
              <a:rPr dirty="0"/>
              <a:t>  - Example: All auto policies</a:t>
            </a:r>
          </a:p>
          <a:p>
            <a:endParaRPr dirty="0"/>
          </a:p>
          <a:p>
            <a:r>
              <a:rPr dirty="0"/>
              <a:t>• Facultative Reinsurance</a:t>
            </a:r>
          </a:p>
          <a:p>
            <a:r>
              <a:rPr dirty="0"/>
              <a:t>  - Case-by-case</a:t>
            </a:r>
          </a:p>
          <a:p>
            <a:r>
              <a:rPr dirty="0"/>
              <a:t>  - For large/unusual risks</a:t>
            </a:r>
          </a:p>
          <a:p>
            <a:r>
              <a:rPr dirty="0"/>
              <a:t>  - Example: $100M property</a:t>
            </a:r>
          </a:p>
          <a:p>
            <a:endParaRPr dirty="0"/>
          </a:p>
          <a:p>
            <a:r>
              <a:rPr dirty="0"/>
              <a:t>Examples: Munich Re, Swiss Re,</a:t>
            </a:r>
          </a:p>
          <a:p>
            <a:r>
              <a:rPr dirty="0"/>
              <a:t>Hannover Re, Lloyd's of London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3366"/>
                </a:solidFill>
              </a:defRPr>
            </a:pPr>
            <a:r>
              <a:t>Information &amp; Money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0" y="5029200"/>
            <a:ext cx="1828800" cy="731520"/>
          </a:xfrm>
          <a:prstGeom prst="roundRect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Customer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0" y="3200400"/>
            <a:ext cx="1828800" cy="731520"/>
          </a:xfrm>
          <a:prstGeom prst="roundRect">
            <a:avLst/>
          </a:prstGeom>
          <a:solidFill>
            <a:srgbClr val="2ECC7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Broker/Agent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0" y="1371600"/>
            <a:ext cx="1828800" cy="731520"/>
          </a:xfrm>
          <a:prstGeom prst="roundRect">
            <a:avLst/>
          </a:prstGeom>
          <a:solidFill>
            <a:srgbClr val="E74C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Insurance Carrier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27432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INFORMATION FLOW:</a:t>
            </a:r>
          </a:p>
          <a:p>
            <a:endParaRPr/>
          </a:p>
          <a:p>
            <a:r>
              <a:t>Customer → Broker/Agent:</a:t>
            </a:r>
          </a:p>
          <a:p>
            <a:r>
              <a:t>• Risk information</a:t>
            </a:r>
          </a:p>
          <a:p>
            <a:r>
              <a:t>• Application details</a:t>
            </a:r>
          </a:p>
          <a:p>
            <a:r>
              <a:t>• Claims notices</a:t>
            </a:r>
          </a:p>
          <a:p>
            <a:endParaRPr/>
          </a:p>
          <a:p>
            <a:r>
              <a:t>Broker/Agent → Carrier:</a:t>
            </a:r>
          </a:p>
          <a:p>
            <a:r>
              <a:t>• Quote requests</a:t>
            </a:r>
          </a:p>
          <a:p>
            <a:r>
              <a:t>• Policy applications</a:t>
            </a:r>
          </a:p>
          <a:p>
            <a:r>
              <a:t>• Claims submissions</a:t>
            </a:r>
          </a:p>
          <a:p>
            <a:endParaRPr/>
          </a:p>
          <a:p>
            <a:r>
              <a:t>Carrier → Broker/Agent:</a:t>
            </a:r>
          </a:p>
          <a:p>
            <a:r>
              <a:t>• Quotes &amp; pricing</a:t>
            </a:r>
          </a:p>
          <a:p>
            <a:r>
              <a:t>• Policy documents</a:t>
            </a:r>
          </a:p>
          <a:p>
            <a:r>
              <a:t>• Claims status</a:t>
            </a:r>
          </a:p>
          <a:p>
            <a:endParaRPr/>
          </a:p>
          <a:p>
            <a:r>
              <a:t>Broker/Agent → Customer:</a:t>
            </a:r>
          </a:p>
          <a:p>
            <a:r>
              <a:t>• Coverage options</a:t>
            </a:r>
          </a:p>
          <a:p>
            <a:r>
              <a:t>• Policy details</a:t>
            </a:r>
          </a:p>
          <a:p>
            <a:r>
              <a:t>• Claims updates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914400"/>
            <a:ext cx="27432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MONEY FLOW:</a:t>
            </a:r>
          </a:p>
          <a:p>
            <a:endParaRPr/>
          </a:p>
          <a:p>
            <a:r>
              <a:t>Customer → Carrier:</a:t>
            </a:r>
          </a:p>
          <a:p>
            <a:r>
              <a:t>• Premiums</a:t>
            </a:r>
          </a:p>
          <a:p>
            <a:r>
              <a:t>  (via broker/agent)</a:t>
            </a:r>
          </a:p>
          <a:p>
            <a:endParaRPr/>
          </a:p>
          <a:p>
            <a:r>
              <a:t>Carrier → Broker/Agent:</a:t>
            </a:r>
          </a:p>
          <a:p>
            <a:r>
              <a:t>• Commissions</a:t>
            </a:r>
          </a:p>
          <a:p>
            <a:r>
              <a:t>  (% of premium)</a:t>
            </a:r>
          </a:p>
          <a:p>
            <a:endParaRPr/>
          </a:p>
          <a:p>
            <a:r>
              <a:t>Carrier → Customer:</a:t>
            </a:r>
          </a:p>
          <a:p>
            <a:r>
              <a:t>• Claim payments</a:t>
            </a:r>
          </a:p>
          <a:p>
            <a:r>
              <a:t>  (when loss occurs)</a:t>
            </a:r>
          </a:p>
          <a:p>
            <a:endParaRPr/>
          </a:p>
          <a:p>
            <a:r>
              <a:t>Carrier → Reinsurer:</a:t>
            </a:r>
          </a:p>
          <a:p>
            <a:r>
              <a:t>• Reinsurance premium</a:t>
            </a:r>
          </a:p>
          <a:p>
            <a:endParaRPr/>
          </a:p>
          <a:p>
            <a:r>
              <a:t>Reinsurer → Carrier:</a:t>
            </a:r>
          </a:p>
          <a:p>
            <a:r>
              <a:t>• Claim reimbursements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3366"/>
                </a:solidFill>
              </a:defRPr>
            </a:pPr>
            <a:r>
              <a:t>Broker vs. Agent - Key Differences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1828800" cy="548640"/>
          </a:xfrm>
          <a:prstGeom prst="roundRect">
            <a:avLst/>
          </a:prstGeom>
          <a:solidFill>
            <a:srgbClr val="2ECC7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BROKER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0" y="1097280"/>
            <a:ext cx="1828800" cy="548640"/>
          </a:xfrm>
          <a:prstGeom prst="roundRect">
            <a:avLst/>
          </a:prstGeom>
          <a:solidFill>
            <a:srgbClr val="9B59B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14600" y="1828800"/>
            <a:ext cx="1371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/>
            </a:pPr>
            <a:r>
              <a:t>Size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/>
            </a:pPr>
            <a:r>
              <a:t>Large (100s-1000s employees)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182880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/>
            </a:pPr>
            <a:r>
              <a:t>Small (1-10 people)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4600" y="2468880"/>
            <a:ext cx="1371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/>
            </a:pPr>
            <a:r>
              <a:t>Represents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6888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/>
            </a:pPr>
            <a:r>
              <a:t>Client/Policyholder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09854" y="236220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/>
            </a:pPr>
            <a:r>
              <a:rPr dirty="0"/>
              <a:t>Captive: Carrier</a:t>
            </a:r>
          </a:p>
          <a:p>
            <a:r>
              <a:rPr dirty="0"/>
              <a:t>Independent: Multiple carriers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600" y="3108960"/>
            <a:ext cx="1371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/>
            </a:pPr>
            <a:r>
              <a:t>Market Focus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10896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/>
            </a:pPr>
            <a:r>
              <a:t>Commercial/Enterprise</a:t>
            </a:r>
          </a:p>
          <a:p>
            <a:r>
              <a:t>Complex risks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76109" y="3128356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/>
            </a:pPr>
            <a:r>
              <a:rPr dirty="0"/>
              <a:t>Personal lines</a:t>
            </a:r>
          </a:p>
          <a:p>
            <a:r>
              <a:rPr dirty="0"/>
              <a:t>Small business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3749040"/>
            <a:ext cx="1371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/>
            </a:pPr>
            <a:r>
              <a:t>Carrier Access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74904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/>
            </a:pPr>
            <a:r>
              <a:t>50-100+ carriers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76109" y="3767051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/>
            </a:pPr>
            <a:r>
              <a:rPr dirty="0"/>
              <a:t>Captive: 1 carrier</a:t>
            </a:r>
          </a:p>
          <a:p>
            <a:r>
              <a:rPr dirty="0"/>
              <a:t>Independent: 5-15 carriers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14600" y="4389120"/>
            <a:ext cx="1371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/>
            </a:pPr>
            <a:r>
              <a:t>Services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38912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/>
            </a:pPr>
            <a:r>
              <a:rPr dirty="0"/>
              <a:t>Risk management</a:t>
            </a:r>
          </a:p>
          <a:p>
            <a:r>
              <a:rPr dirty="0"/>
              <a:t>Claims advocacy</a:t>
            </a:r>
          </a:p>
          <a:p>
            <a:r>
              <a:rPr dirty="0"/>
              <a:t>Consulting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6109" y="438912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/>
            </a:pPr>
            <a:r>
              <a:rPr dirty="0"/>
              <a:t>Sales</a:t>
            </a:r>
          </a:p>
          <a:p>
            <a:r>
              <a:rPr dirty="0"/>
              <a:t>Basic service</a:t>
            </a:r>
          </a:p>
          <a:p>
            <a:r>
              <a:rPr dirty="0"/>
              <a:t>Policy admin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14600" y="5029200"/>
            <a:ext cx="1371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/>
            </a:pPr>
            <a:r>
              <a:t>Revenue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02920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/>
            </a:pPr>
            <a:r>
              <a:t>Commission + Fees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502920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/>
            </a:pPr>
            <a:r>
              <a:rPr dirty="0"/>
              <a:t>Commission only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4600" y="5669280"/>
            <a:ext cx="1371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/>
            </a:pPr>
            <a:r>
              <a:t>Examples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66928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/>
            </a:pPr>
            <a:r>
              <a:rPr dirty="0"/>
              <a:t>Lockton, Marsh, Aon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566928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/>
            </a:pPr>
            <a:r>
              <a:t>State Farm agent</a:t>
            </a:r>
          </a:p>
          <a:p>
            <a:r>
              <a:t>Farmers agent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</a:defRPr>
            </a:pPr>
            <a:r>
              <a:t>Complete Insurance Ecosystem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914400"/>
            <a:ext cx="1645920" cy="548640"/>
          </a:xfrm>
          <a:prstGeom prst="roundRect">
            <a:avLst/>
          </a:prstGeom>
          <a:solidFill>
            <a:srgbClr val="2C3E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Regulators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0" y="914400"/>
            <a:ext cx="1554480" cy="548640"/>
          </a:xfrm>
          <a:prstGeom prst="roundRect">
            <a:avLst/>
          </a:prstGeom>
          <a:solidFill>
            <a:srgbClr val="2C3E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Rating Agencies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828800"/>
            <a:ext cx="1645920" cy="548640"/>
          </a:xfrm>
          <a:prstGeom prst="roundRect">
            <a:avLst/>
          </a:prstGeom>
          <a:solidFill>
            <a:srgbClr val="2C3E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TPAs/Adjusters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828800"/>
            <a:ext cx="1554480" cy="548640"/>
          </a:xfrm>
          <a:prstGeom prst="roundRect">
            <a:avLst/>
          </a:prstGeom>
          <a:solidFill>
            <a:srgbClr val="2C3E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Tech Vendors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5486400"/>
            <a:ext cx="1828800" cy="640080"/>
          </a:xfrm>
          <a:prstGeom prst="roundRect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CUSTOMER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840480"/>
            <a:ext cx="1645920" cy="640080"/>
          </a:xfrm>
          <a:prstGeom prst="roundRect">
            <a:avLst/>
          </a:prstGeom>
          <a:solidFill>
            <a:srgbClr val="2ECC7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BROKER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3840480"/>
            <a:ext cx="1645920" cy="640080"/>
          </a:xfrm>
          <a:prstGeom prst="roundRect">
            <a:avLst/>
          </a:prstGeom>
          <a:solidFill>
            <a:srgbClr val="9B59B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AGENT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2743200"/>
            <a:ext cx="2377440" cy="640080"/>
          </a:xfrm>
          <a:prstGeom prst="roundRect">
            <a:avLst/>
          </a:prstGeom>
          <a:solidFill>
            <a:srgbClr val="E74C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CARRIER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40480" y="1188720"/>
            <a:ext cx="1463040" cy="457200"/>
          </a:xfrm>
          <a:prstGeom prst="roundRect">
            <a:avLst/>
          </a:prstGeom>
          <a:solidFill>
            <a:srgbClr val="F1C40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>
              <a:defRPr sz="1200" b="1">
                <a:solidFill>
                  <a:srgbClr val="000000"/>
                </a:solidFill>
              </a:defRPr>
            </a:pPr>
            <a:r>
              <a:t>Reinsurer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64008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444444"/>
                </a:solidFill>
              </a:defRPr>
            </a:pPr>
            <a:r>
              <a:t>Blue = Customer  |  Green = Broker  |  Purple = Agent  |  Red = Carrier  |  Gold = Reinsurer  |  Gray = Support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1062</Words>
  <Application>Microsoft Macintosh PowerPoint</Application>
  <PresentationFormat>On-screen Show (4:3)</PresentationFormat>
  <Paragraphs>288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Keshav kumar</cp:lastModifiedBy>
  <cp:revision>4</cp:revision>
  <dcterms:created xsi:type="dcterms:W3CDTF">2013-01-27T09:14:16Z</dcterms:created>
  <dcterms:modified xsi:type="dcterms:W3CDTF">2026-02-12T12:55:00Z</dcterms:modified>
  <cp:category/>
</cp:coreProperties>
</file>