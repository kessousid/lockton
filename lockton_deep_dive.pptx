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328" r:id="rId11"/>
    <p:sldId id="265" r:id="rId12"/>
    <p:sldId id="329" r:id="rId13"/>
    <p:sldId id="266" r:id="rId14"/>
    <p:sldId id="330" r:id="rId15"/>
    <p:sldId id="267" r:id="rId16"/>
    <p:sldId id="331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24"/>
  </p:normalViewPr>
  <p:slideViewPr>
    <p:cSldViewPr snapToGrid="0" snapToObjects="1">
      <p:cViewPr>
        <p:scale>
          <a:sx n="100" d="100"/>
          <a:sy n="100" d="100"/>
        </p:scale>
        <p:origin x="1960" y="3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Lockton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44444"/>
                </a:solidFill>
              </a:defRPr>
            </a:pPr>
            <a:r>
              <a:t>Business, Competition, Offerings, Challenges &amp;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Section 1: Lockton Company Overview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Section 2: Business Model &amp; Revenue Streams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Section 3: Service Offerings &amp; Solutions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Section 4: Competitive Landscape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Section 5: Lockton's Competitive Position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Section 6: Current Challenges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Section 7: Technology Challenges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Section 8: Operational Challenges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Section 9: Recommended Solutions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Section 10: Implementation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SECTION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Lockton Company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Lockton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Founded: 1966 by Jack Lockton in Kansas City, Missouri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Headquarters: Kansas City, Missouri, USA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Global Presence: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11,000+ associates worldwide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Operations in 140+ countries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Over 185 office locations globally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Revenue: ~$2.7 billion (2023)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Ranking: World's largest privately-held insurance broker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Ownership: 100% employee-owned (associates are shareholders)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Leadership: Dave Lockton (Chairman), Ron Lockton (Vice Chairman)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54200" y="-157942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Core Values &amp;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8480" y="235296"/>
            <a:ext cx="7863840" cy="6699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Lockton's Differentiators:</a:t>
            </a:r>
            <a:endParaRPr lang="en-US" sz="1600" dirty="0"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sz="1400" dirty="0"/>
              <a:t>1. Private Ownership Philosophy: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sz="1200" dirty="0"/>
              <a:t>No quarterly earnings pressure from Wall Street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sz="1200" dirty="0"/>
              <a:t>Long-term focus vs. short-term results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sz="1200" dirty="0"/>
              <a:t>Client outcomes over shareholder returns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sz="1400" dirty="0"/>
              <a:t>2. Employee Ownership: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sz="1200" dirty="0"/>
              <a:t>Associates are shareholders in the company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sz="1200" dirty="0"/>
              <a:t>Alignment of interests (company success = personal success)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sz="1200" dirty="0"/>
              <a:t>Retention advantage (employees stay longer)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sz="1400" dirty="0"/>
              <a:t>3. Client-First Culture: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sz="1200" dirty="0"/>
              <a:t>'We work for clients, not insurance companies'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sz="1200" dirty="0"/>
              <a:t>Independent advice without carrier bias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sz="1200" dirty="0"/>
              <a:t>Relationship-driven, not transaction-driven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sz="1400" dirty="0"/>
              <a:t>4. Entrepreneurial Spirit: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sz="1200" dirty="0"/>
              <a:t>Less bureaucracy than large public brokers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sz="1200" dirty="0"/>
              <a:t>Faster decision-making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sz="1200" dirty="0"/>
              <a:t>Innovation encouraged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16100" y="-1270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Geographic Footprint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4000" y="149860"/>
            <a:ext cx="7863840" cy="6822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United States: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sz="1200" dirty="0"/>
              <a:t>Strong presence in all major markets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sz="1200" dirty="0"/>
              <a:t>Particularly strong in Midwest and South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sz="1200" dirty="0"/>
              <a:t>Over 100 US offices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International: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sz="1200" dirty="0"/>
              <a:t>Europe: UK, Ireland, Belgium, Germany, Spain, Poland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sz="1200" dirty="0"/>
              <a:t>Asia-Pacific: China, Hong Kong, Singapore, Australia, New Zealand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sz="1200" dirty="0"/>
              <a:t>Middle East: UAE (Dubai), Saudi Arabia, Qatar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sz="1200" dirty="0"/>
              <a:t>Latin America: Brazil, Mexico, Colombia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sz="1200" dirty="0"/>
              <a:t>Canada: Toronto, Vancouver, Calgary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Growth Strategy: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sz="1200" dirty="0"/>
              <a:t>Organic growth in existing markets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sz="1200" dirty="0"/>
              <a:t>Strategic acquisitions of regional brokers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sz="1200" dirty="0"/>
              <a:t>Building presence in emerging markets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Middle East Significance: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sz="1200" dirty="0"/>
              <a:t>Dubai office serves as regional hub for GCC countries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sz="1200" dirty="0"/>
              <a:t>Focus on commercial insurance, energy, construction sectors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79600" y="-1041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Key Statistics &amp; Achievements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5580" y="261620"/>
            <a:ext cx="786384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Market Position: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sz="1200" dirty="0"/>
              <a:t>#8 largest insurance broker globally (by revenue)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sz="1200" dirty="0"/>
              <a:t>#1 largest privately-held broker worldwide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sz="1200" dirty="0"/>
              <a:t>Top 20 broker in most major markets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Growth Trajectory: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sz="1200" dirty="0"/>
              <a:t>Consistent double-digit growth over past decade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sz="1200" dirty="0"/>
              <a:t>Organic growth rate: 8-12% annually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sz="1200" dirty="0"/>
              <a:t>Acquisitions adding 3-5% growth annually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Client Base: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sz="1200" dirty="0"/>
              <a:t>25,000+ client organizations globally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sz="1200" dirty="0"/>
              <a:t>Mix of mid-market and large enterprise clients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sz="1200" dirty="0"/>
              <a:t>Strong retention rates (&gt;95% client retention)</a:t>
            </a: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Industry Recognition: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Consistently ranked 'Best Places to Work' in multiple regions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Awards for innovation in employee benefits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Recognition for client service excellence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SECTION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Business Model &amp; Revenue Streams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How Lockton Makes Money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Primary Revenue Stream: Commissions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Percentage of premium paid by insurance carriers to Lockton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Typical commission rates: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    • Commercial P&amp;C: 10-15%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    • Employee Benefits: 3-8%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    • Specialty lines: 15-25%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Commission earned upon policy placement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Recurring commissions on renewals (most clients renew annually)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Secondary Revenue: Fees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Consulting fees for risk management services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Project-based fees for large implementations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Advisory fees for complex risk programs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Fee-based model growing (less carrier-dependent)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8FCC0-9F48-7934-9BB6-5D6271675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6AF8DD-C80D-EE7A-65AB-6F13154A3786}"/>
              </a:ext>
            </a:extLst>
          </p:cNvPr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How Lockton Makes Money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45148A-CFED-72A6-D6D5-C12960C94000}"/>
              </a:ext>
            </a:extLst>
          </p:cNvPr>
          <p:cNvSpPr txBox="1"/>
          <p:nvPr/>
        </p:nvSpPr>
        <p:spPr>
          <a:xfrm>
            <a:off x="640080" y="1280160"/>
            <a:ext cx="7863840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Contingent Commissions: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Bonuses from carriers based on volume or loss ratios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Less emphasis than past (due to transparency concerns)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Investment Income: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Float on premiums held temporarily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Investment of company reserves</a:t>
            </a:r>
          </a:p>
        </p:txBody>
      </p:sp>
    </p:spTree>
    <p:extLst>
      <p:ext uri="{BB962C8B-B14F-4D97-AF65-F5344CB8AC3E}">
        <p14:creationId xmlns:p14="http://schemas.microsoft.com/office/powerpoint/2010/main" val="3220683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Revenue by Business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46063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Estimated Revenue Mix: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Commercial Insurance Broking: ~60%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Property &amp; Casualty insurance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Liability coverage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Workers' compensation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Commercial auto and fleet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Employee Benefits: ~30%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Group health insurance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Group life and disability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Retirement/pension consulting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Wellness programs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1E4DF-F7E1-C4EE-B1AF-D9E869548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4207BA-ED02-94C2-E77F-01EED4BD8F3A}"/>
              </a:ext>
            </a:extLst>
          </p:cNvPr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Revenue by Business 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1BB944-A69E-0053-EBB6-EF7A7964F9CD}"/>
              </a:ext>
            </a:extLst>
          </p:cNvPr>
          <p:cNvSpPr txBox="1"/>
          <p:nvPr/>
        </p:nvSpPr>
        <p:spPr>
          <a:xfrm>
            <a:off x="640080" y="1280160"/>
            <a:ext cx="786384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Specialty Practices: ~10%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Cyber insurance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Professional liability (E&amp;O, D&amp;O)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Marine and aviation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Construction insurance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Energy and natural resources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Surety bonds</a:t>
            </a:r>
          </a:p>
        </p:txBody>
      </p:sp>
    </p:spTree>
    <p:extLst>
      <p:ext uri="{BB962C8B-B14F-4D97-AF65-F5344CB8AC3E}">
        <p14:creationId xmlns:p14="http://schemas.microsoft.com/office/powerpoint/2010/main" val="447466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Client Segments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4637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Middle Market (Primary Focus):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Companies with $10M-$500M in revenue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Complex enough to need broker expertise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Not so large that only 'Big 3' brokers can handle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Sweet spot for Lockton's value proposition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Large Corporate/Enterprise: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Fortune 500 and Global 2000 companies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Multi-national risk programs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Competes directly with Marsh, Aon, WTW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89E04-0806-5329-25E5-EBD53AC34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82AFE3-1235-0601-4066-06056A1344B9}"/>
              </a:ext>
            </a:extLst>
          </p:cNvPr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Client Segments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C494B4-45E8-CB31-087A-8530175D602F}"/>
              </a:ext>
            </a:extLst>
          </p:cNvPr>
          <p:cNvSpPr txBox="1"/>
          <p:nvPr/>
        </p:nvSpPr>
        <p:spPr>
          <a:xfrm>
            <a:off x="640080" y="1280160"/>
            <a:ext cx="7863840" cy="5027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Small Business: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&lt;$10M revenue companies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Less focus here (lower margin, more commodity)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Some presence in select markets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Geographic/Industry Specialization: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Healthcare providers and systems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Construction and real estate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Manufacturing and distribution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Energy and utilities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Technology companies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Private equity portfolio companies</a:t>
            </a:r>
          </a:p>
        </p:txBody>
      </p:sp>
    </p:spTree>
    <p:extLst>
      <p:ext uri="{BB962C8B-B14F-4D97-AF65-F5344CB8AC3E}">
        <p14:creationId xmlns:p14="http://schemas.microsoft.com/office/powerpoint/2010/main" val="1452752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Economic Model &amp; Profitability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Revenue Economics: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Revenue per employee: ~$245,000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Higher than industry average ($200-220K)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Driven by focus on mid-market and large accounts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Cost Structure: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Compensation: 60-65% of revenue (industry standard)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Operating expenses: 20-25% (technology, occupancy, admin)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EBITDA margin: 10-15% (typical for brokers)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3D235-180A-F253-9597-496DD18FD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5C2529-BAFF-975C-4BD3-EE770AAC751D}"/>
              </a:ext>
            </a:extLst>
          </p:cNvPr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Economic Model &amp; Profitability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6A4C25-20A2-C00F-52F4-A276AC4CB59B}"/>
              </a:ext>
            </a:extLst>
          </p:cNvPr>
          <p:cNvSpPr txBox="1"/>
          <p:nvPr/>
        </p:nvSpPr>
        <p:spPr>
          <a:xfrm>
            <a:off x="640080" y="1280160"/>
            <a:ext cx="786384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Private Ownership Advantages: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No dividend requirements (reinvest in business)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Can tolerate lower margins for strategic investments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Long-term projects don't need quarterly ROI justification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rPr dirty="0"/>
              <a:t>Growth Investment: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Significant investment in technology (playing catch-up)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Recruiting top talent from competitors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Geographic expansion (Middle East, Asia)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rPr dirty="0"/>
              <a:t>Acquisitions of specialty brokers</a:t>
            </a:r>
          </a:p>
        </p:txBody>
      </p:sp>
    </p:spTree>
    <p:extLst>
      <p:ext uri="{BB962C8B-B14F-4D97-AF65-F5344CB8AC3E}">
        <p14:creationId xmlns:p14="http://schemas.microsoft.com/office/powerpoint/2010/main" val="8653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SECTION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Service Offerings &amp; Solutions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Commercial Insurance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Core P&amp;C Insurance Placement: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Property insurance (buildings, equipment, inventory)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General liability (bodily injury, property damage)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Professional liability (E&amp;O for service businesses)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Workers' compensation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Commercial auto and fleet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Umbrella/excess liability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Risk Management Services: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Risk assessments and facility surveys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Loss control consulting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Safety program development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Claims management and advocacy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Captive insurance consulting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Value-Add: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Access to 100+ insurance carriers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Market clout for negotiating terms and pricing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Annual stewardship reviews (proactive account management)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Dedicated account teams with deep expertise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Employee Benefits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Group Health Insurance: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Medical, dental, vision plan design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Carrier selection and negotiation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Cost containment strategies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Self-funding vs. fully-insured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Group Life &amp; Disability: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Life insurance programs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Short-term and long-term disability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Voluntary benefits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Retirement &amp; Financial Wellness: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401(k) plan design and administration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Defined benefit pension consulting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Executive compensation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Financial wellness programs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Benefits Administration: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Technology platforms for enrollment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Compliance support (ERISA, ACA, COBRA)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Employee communication campaigns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Specialty Insurance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Cyber Insurance: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Fastest-growing specialty line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Data breach coverage, ransomware, business interruption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Risk assessment and cyber hygiene consulting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Professional Liability: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Directors &amp; Officers (D&amp;O) liability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Errors &amp; Omissions (E&amp;O) for professional services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Management liability programs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Construction Insurance: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Builder's risk, completed operations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Contractor's equipment, surety bonds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Wrap-up programs for large projects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Energy &amp; Natural Resources: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Oil &amp; gas operations insurance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Renewable energy projects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Environmental liability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Marine &amp; Aviation: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Cargo and hull insurance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Aircraft hull and liability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Surety Bonds: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Performance and payment bonds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License and permit bonds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Industry-Specific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Healthcare: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Medical professional liability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Healthcare facility coverage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Managed care E&amp;O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Employee benefits for healthcare systems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Real Estate: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Property owner liability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Environmental insurance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Construction defect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Manufacturing: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Product liability and recall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Equipment breakdown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Supply chain risk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Technology: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Cyber and tech E&amp;O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Intellectual property insurance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Employment practices liability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Private Equity: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Portfolio company insurance programs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Transaction liability insurance (reps &amp; warranties)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Management liability for portfolio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Value-Added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Claims Advocacy: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Support client through claims process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Negotiate with carriers for fair settlements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Dispute resolution and litigation support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Data &amp; Analytics: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Loss ratio analysis and trending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Benchmarking against industry peers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Total cost of risk (TCOR) reporting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Predictive analytics for risk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Compliance Support: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Regulatory compliance guidance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Certificate of insurance management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Contract insurance requirement reviews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Risk Financing Alternatives: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Captive insurance feasibility and formation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Self-insurance program design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Alternative risk transfer solutions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Training &amp; Education: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Safety training for employees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Risk management workshops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Insurance literacy for executives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SECTION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Competitive Landscape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Global Insurance Broker Rankings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Top 10 Insurance Brokers by Revenue (2023):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1. Marsh McLennan (MMC) - $23.0B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Public, NYSE: MMC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2. Aon - $13.4B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Public, NYSE: AON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3. Willis Towers Watson (WTW) - $9.0B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Public, NASDAQ: WTW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4. Arthur J. Gallagher (AJG) - $8.7B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Public, NYSE: AJG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5. Brown &amp; Brown - $4.3B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Public, NYSE: BRO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6. Hub International - $3.2B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Private equity-owned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7. Acrisure - $3.0B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Private equity-owned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8. Lockton - $2.7B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Private, employee-owned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9. USI Insurance - $2.4B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Private equity-owned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10. Alliant Insurance Services - $1.6B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Private equity-owned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The 'Big 3' Public Brokers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Marsh McLennan Companies: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85,000 employees, 130+ countries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Divisions: Marsh (broking), Mercer (HR consulting), Guy Carpenter (reinsurance), Oliver Wyman (strategy consulting)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Strengths: Scale, global reach, diversified services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Weakness: Bureaucracy, less nimble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Aon: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50,000 employees, 120 countries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Strong in reinsurance, data &amp; analytics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Attempted merger with WTW (blocked by regulators 2021)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Strengths: Risk analytics, global placement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Weakness: Service quality concerns from clients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Willis Towers Watson: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45,000 employees, 140 countries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Strong in employee benefits and actuarial consulting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Merger of Willis and Towers Watson (2016)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Strengths: Benefits expertise, analytics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Weakness: Integration challenges from merger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Mid-Tier Competitors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Arthur J. Gallagher: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Public company, aggressive acquirer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~53,000 employees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Strong middle market focus (similar to Lockton)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Growth through acquisitions (50+ per year)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Brown &amp; Brown: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Public, Florida-based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~15,000 employees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Strong regional presence in Southeast US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Focus on personal and small commercial lines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Hub International: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Private equity-backed (Hellman &amp; Friedman)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~18,000 employees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Built through aggressive acquisition strategy (300+ acquisitions)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Strong North American presence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Acrisure: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Private equity-backed (multiple PE firms)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~17,000 employees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Fastest-growing through M&amp;A (400+ acquisitions)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Technology-focused strategy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Regional &amp; Specialty Competitors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Regional Brokers (in specific markets):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Woodruff Sawyer (West Coast)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Hilb Group (Southeast)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CBIZ (Midwest)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Heffernan Insurance (California)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Relation Insurance (Midwest)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Specialty Competitors: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Amwins (wholesale broker)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CRC Group (specialty wholesaler)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RT Specialty (wholesale, part of RSG)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Middle East Competitors: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All 'Big 3' have strong Middle East presence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Local/regional players: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Cooper Gay (UK-based, ME presence)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HSBC Insurance Brokers Middle East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Abu Dhabi National Insurance Company brokers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Local UAE brokers (smaller scale)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Competitive Positioning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38862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HIGH SERVICE / HIGH TOUCH:</a:t>
            </a:r>
          </a:p>
          <a:p>
            <a:pPr>
              <a:spcBef>
                <a:spcPts val="600"/>
              </a:spcBef>
              <a:defRPr sz="1400"/>
            </a:pPr>
            <a:r>
              <a:t>• Lockton</a:t>
            </a:r>
          </a:p>
          <a:p>
            <a:pPr>
              <a:spcBef>
                <a:spcPts val="600"/>
              </a:spcBef>
              <a:defRPr sz="1400"/>
            </a:pPr>
            <a:r>
              <a:t>• Regional boutique brokers</a:t>
            </a:r>
          </a:p>
          <a:p>
            <a:pPr>
              <a:spcBef>
                <a:spcPts val="600"/>
              </a:spcBef>
              <a:defRPr sz="1400"/>
            </a:pPr>
            <a:r>
              <a:t>• Specialty niche brokers</a:t>
            </a:r>
          </a:p>
          <a:p>
            <a:pPr>
              <a:spcBef>
                <a:spcPts val="600"/>
              </a:spcBef>
              <a:defRPr sz="1400"/>
            </a:pPr>
            <a:endParaRPr/>
          </a:p>
          <a:p>
            <a:pPr>
              <a:spcBef>
                <a:spcPts val="600"/>
              </a:spcBef>
              <a:defRPr sz="1400"/>
            </a:pPr>
            <a:r>
              <a:t>Characteristics:</a:t>
            </a:r>
          </a:p>
          <a:p>
            <a:pPr>
              <a:spcBef>
                <a:spcPts val="600"/>
              </a:spcBef>
              <a:defRPr sz="1400"/>
            </a:pPr>
            <a:r>
              <a:t>- Deep client relationships</a:t>
            </a:r>
          </a:p>
          <a:p>
            <a:pPr>
              <a:spcBef>
                <a:spcPts val="600"/>
              </a:spcBef>
              <a:defRPr sz="1400"/>
            </a:pPr>
            <a:r>
              <a:t>- Customized solutions</a:t>
            </a:r>
          </a:p>
          <a:p>
            <a:pPr>
              <a:spcBef>
                <a:spcPts val="600"/>
              </a:spcBef>
              <a:defRPr sz="1400"/>
            </a:pPr>
            <a:r>
              <a:t>- High broker-to-client ratio</a:t>
            </a:r>
          </a:p>
          <a:p>
            <a:pPr>
              <a:spcBef>
                <a:spcPts val="600"/>
              </a:spcBef>
              <a:defRPr sz="1400"/>
            </a:pPr>
            <a:r>
              <a:t>- Premium pricing</a:t>
            </a:r>
          </a:p>
          <a:p>
            <a:pPr>
              <a:spcBef>
                <a:spcPts val="600"/>
              </a:spcBef>
              <a:defRPr sz="1400"/>
            </a:pPr>
            <a:r>
              <a:t>- Strong retention</a:t>
            </a:r>
          </a:p>
          <a:p>
            <a:pPr>
              <a:spcBef>
                <a:spcPts val="600"/>
              </a:spcBef>
              <a:defRPr sz="1400"/>
            </a:pPr>
            <a:endParaRPr/>
          </a:p>
          <a:p>
            <a:pPr>
              <a:spcBef>
                <a:spcPts val="600"/>
              </a:spcBef>
              <a:defRPr sz="1400"/>
            </a:pPr>
            <a:r>
              <a:t>Target Clients:</a:t>
            </a:r>
          </a:p>
          <a:p>
            <a:pPr>
              <a:spcBef>
                <a:spcPts val="600"/>
              </a:spcBef>
              <a:defRPr sz="1400"/>
            </a:pPr>
            <a:r>
              <a:t>- Mid-market companies</a:t>
            </a:r>
          </a:p>
          <a:p>
            <a:pPr>
              <a:spcBef>
                <a:spcPts val="600"/>
              </a:spcBef>
              <a:defRPr sz="1400"/>
            </a:pPr>
            <a:r>
              <a:t>- Clients valuing relationships</a:t>
            </a:r>
          </a:p>
          <a:p>
            <a:pPr>
              <a:spcBef>
                <a:spcPts val="600"/>
              </a:spcBef>
              <a:defRPr sz="1400"/>
            </a:pPr>
            <a:r>
              <a:t>- Complex risk profiles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280160"/>
            <a:ext cx="38862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HIGH SCALE / EFFICIENCY:</a:t>
            </a:r>
          </a:p>
          <a:p>
            <a:pPr>
              <a:spcBef>
                <a:spcPts val="600"/>
              </a:spcBef>
              <a:defRPr sz="1400"/>
            </a:pPr>
            <a:r>
              <a:t>• Big 3 (Marsh, Aon, WTW)</a:t>
            </a:r>
          </a:p>
          <a:p>
            <a:pPr>
              <a:spcBef>
                <a:spcPts val="600"/>
              </a:spcBef>
              <a:defRPr sz="1400"/>
            </a:pPr>
            <a:r>
              <a:t>• PE-backed roll-ups (Hub, Acrisure)</a:t>
            </a:r>
          </a:p>
          <a:p>
            <a:pPr>
              <a:spcBef>
                <a:spcPts val="600"/>
              </a:spcBef>
              <a:defRPr sz="1400"/>
            </a:pPr>
            <a:r>
              <a:t>• InsurTech brokers</a:t>
            </a:r>
          </a:p>
          <a:p>
            <a:pPr>
              <a:spcBef>
                <a:spcPts val="600"/>
              </a:spcBef>
              <a:defRPr sz="1400"/>
            </a:pPr>
            <a:endParaRPr/>
          </a:p>
          <a:p>
            <a:pPr>
              <a:spcBef>
                <a:spcPts val="600"/>
              </a:spcBef>
              <a:defRPr sz="1400"/>
            </a:pPr>
            <a:r>
              <a:t>Characteristics:</a:t>
            </a:r>
          </a:p>
          <a:p>
            <a:pPr>
              <a:spcBef>
                <a:spcPts val="600"/>
              </a:spcBef>
              <a:defRPr sz="1400"/>
            </a:pPr>
            <a:r>
              <a:t>- Standardized processes</a:t>
            </a:r>
          </a:p>
          <a:p>
            <a:pPr>
              <a:spcBef>
                <a:spcPts val="600"/>
              </a:spcBef>
              <a:defRPr sz="1400"/>
            </a:pPr>
            <a:r>
              <a:t>- Technology-enabled</a:t>
            </a:r>
          </a:p>
          <a:p>
            <a:pPr>
              <a:spcBef>
                <a:spcPts val="600"/>
              </a:spcBef>
              <a:defRPr sz="1400"/>
            </a:pPr>
            <a:r>
              <a:t>- Lower broker-to-client ratio</a:t>
            </a:r>
          </a:p>
          <a:p>
            <a:pPr>
              <a:spcBef>
                <a:spcPts val="600"/>
              </a:spcBef>
              <a:defRPr sz="1400"/>
            </a:pPr>
            <a:r>
              <a:t>- Competitive pricing</a:t>
            </a:r>
          </a:p>
          <a:p>
            <a:pPr>
              <a:spcBef>
                <a:spcPts val="600"/>
              </a:spcBef>
              <a:defRPr sz="1400"/>
            </a:pPr>
            <a:r>
              <a:t>- Scale advantages</a:t>
            </a:r>
          </a:p>
          <a:p>
            <a:pPr>
              <a:spcBef>
                <a:spcPts val="600"/>
              </a:spcBef>
              <a:defRPr sz="1400"/>
            </a:pPr>
            <a:endParaRPr/>
          </a:p>
          <a:p>
            <a:pPr>
              <a:spcBef>
                <a:spcPts val="600"/>
              </a:spcBef>
              <a:defRPr sz="1400"/>
            </a:pPr>
            <a:r>
              <a:t>Target Clients:</a:t>
            </a:r>
          </a:p>
          <a:p>
            <a:pPr>
              <a:spcBef>
                <a:spcPts val="600"/>
              </a:spcBef>
              <a:defRPr sz="1400"/>
            </a:pPr>
            <a:r>
              <a:t>- Large corporates (need global reach)</a:t>
            </a:r>
          </a:p>
          <a:p>
            <a:pPr>
              <a:spcBef>
                <a:spcPts val="600"/>
              </a:spcBef>
              <a:defRPr sz="1400"/>
            </a:pPr>
            <a:r>
              <a:t>- Price-sensitive buyers</a:t>
            </a:r>
          </a:p>
          <a:p>
            <a:pPr>
              <a:spcBef>
                <a:spcPts val="600"/>
              </a:spcBef>
              <a:defRPr sz="1400"/>
            </a:pPr>
            <a:r>
              <a:t>- Simple/commodity risks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SECTION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Lockton's Competitive Position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Lockton's Competitive 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1. Private Ownership = Client Alignment: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No Wall Street pressure = long-term focus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Can prioritize client outcomes over short-term profit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Unique positioning vs. public competitors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2. Employee Ownership = Talent Retention: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Associates are shareholders (skin in the game)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Lower turnover than competitors (industry avg: 15-20%, Lockton: &lt;10%)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Continuity in client relationships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3. Service Quality &amp; Relationships: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'We're not the biggest, but we're the best' positioning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Higher client satisfaction scores than Big 3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&gt;95% client retention (industry: 85-90%)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4. Entrepreneurial Culture: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Faster decision-making than large public brokers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More flexibility to customize solutions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Innovation encouraged (not bureaucratic)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5. Middle Market Sweet Spot: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Large enough to handle complex risks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Small enough to provide personalized service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Not competing on commodity business (small accounts)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Lockton's Competitive Disadvantages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1. Smaller Scale vs. Big 3: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Less negotiating leverage with carriers (lower volume)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Cannot match global footprint of Marsh/Aon/WTW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Fewer resources for mega-accounts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2. Technology Gap: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IT budget ~$100-150M vs. Marsh $500M+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 portals less sophisticated than competitors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Data analytics capabilities lag Big 3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Playing catch-up on digital transformation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3. Brand Recognition: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Less known than Big 3 (especially internationally)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CFOs/risk managers may default to 'safe choice' of Marsh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Must work harder to get in RFP process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4. Limited Capital for Growth: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Cannot access public equity markets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Acquisitions funded internally (slower growth)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Competitors (PE-backed, public) can outbid for acquisitions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5. Geographic Gaps: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Not as strong in Asia-Pacific as Marsh/Aon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Limited presence in some emerging markets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Can be disadvantage for multi-national RFPs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Win/Loss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Lockton WINS When: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 values relationship over price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Mid-market company ($50M-$500M revenue)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 frustrated with service from Big 3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Industry specialization matters (healthcare, construction, PE)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 wants broker that 'knows them by name'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Decision-maker values private ownership model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Lockton LOSES When: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 needs global placement in 50+ countries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CFO wants 'brand name' broker (Marsh) for board credibility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Procurement-driven RFP focused solely on price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 needs advanced technology (sophisticated portal, analytics)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Mega-account that requires massive team (100+ people)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 in market where Lockton has weak presence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Key Battleground: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Middle market accounts moving up from smaller brokers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Stealing dissatisfied Big 3 clients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Private equity portfolio company wins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Client Perception - Strengths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What Clients Say About Lockton (Positive):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"They treat us like their only client"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Relationship depth and attention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"Our account team never changes"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Low turnover creates continuity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"They fight for us with carriers"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Claims advocacy and client representation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"They bring creative solutions, not just quotes"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Risk management and consulting mindset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"Not dealing with layers of bureaucracy"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Can get to decision-makers quickly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"Feels like a partnership, not vendor relationship"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Employee ownership translates to client care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Common Themes: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Service quality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Relationship depth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Responsiveness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Expertise and advice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Client Perception - Weaknesses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What Clients Say About Lockton (Negative):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"Their technology is behind Marsh/Aon"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 portal limitations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Clunky systems and processes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"We can't see our global policies in one place"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Limited global coordination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Not as strong internationally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"Their data and analytics are basic"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Lack of sophisticated benchmarking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Limited predictive insights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"Getting renewals is manual and slow"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Process inefficiencies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Too dependent on email and phone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"Nobody's heard of them" (in some markets)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Brand recognition challenges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Common Themes: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Technology and digital experience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Global capabilities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Analytics and data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Process automation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SECTION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Current Challenges Facing Lockton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Challenge 1: Technology Investment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The Problem: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Technology is becoming competitive differentiator in broking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Clients expect sophisticated digital experiences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Lockton's IT spend significantly less than Big 3: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Marsh: ~$500M annually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Aon: ~$400M annually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Lockton: ~$100-150M annually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Manifestations: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 portal less feature-rich than Marsh's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Broker productivity tools lagging (more manual work)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Data analytics capabilities limited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API integrations with carriers incomplete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Mobile experience poor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Business Impact: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Losing RFPs due to technology scores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 frustration with manual processes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Broker inefficiency (time on admin vs. clients)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Difficulty attracting tech-savvy younger talent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Risk of client attrition to more digital competitors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Challenge 2: Scaling Without Losing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The Dilemma: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Lockton's advantage is personalized service and culture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But to compete, needs to grow (scale matters in broking)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Risk: Growth dilutes what makes Lockton special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Growth Challenges: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New hires don't have 'Lockton DNA' (not employee-owners yet)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Acquisitions bring different cultures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Geographic expansion means less cohesion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Maintaining quality control across 11,000 people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Cultural Preservation Concerns: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Keeping entrepreneurial spirit while adding structure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Ensuring client-first mentality as team grows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Preventing silos between regions/practices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Maintaining communication as company gets larger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Specific Issues: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Some newer offices feel disconnected from HQ culture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Inconsistent service quality across locations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Difficulty transferring 'Lockton way' to acquired firms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Challenge 3: Competing for Large Accounts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The Problem: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Largest accounts increasingly going to Big 3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Fortune 500 procurement processes favor 'brand names'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Global account RFPs require capabilities Lockton doesn't have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Why Lockton Struggles with Mega-Accounts: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Lack of presence in all required countries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Cannot staff 50+ person account teams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Technology gaps more apparent at enterprise scale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Risk managers play it safe with Marsh/Aon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Revenue Concentration Risk: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Top 100 clients = ~25% of revenue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Losing one large client = significant impact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Need to win larger accounts to grow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Account Migration: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Mid-market clients growing into large enterprises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When they reach certain size, Marsh poaches them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Need to retain clients as they scale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Competitive Response Needed: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Build capabilities for larger, more complex accounts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Global footprint expansion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Technology investments to compete at enterprise level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Challenge 4: Broker Productivity &amp;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Current State: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Brokers spending too much time on administrative tasks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Manual processes for routine activities: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Certificate generation (should be instant)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Renewal reminders (should be automated)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Quote comparison (manual spreadsheets)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Commission reconciliation (labor-intensive)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Data entry across multiple systems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Impact: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Brokers have less time for client relationship building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Lower productivity vs. competitors with better tools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Frustration leads to turnover (especially younger brokers)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Technology Root Causes: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Broker Management System (BMS) limitations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Lack of workflow automation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Poor integration between systems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No mobile tools for field work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Financial Impact: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Revenue per broker could increase 20-30% with better tools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Opportunity cost: 10-15 hours per broker per week on admin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At scale (11,000 employees), massive productivity loss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Challenge 5: Data &amp; Analytics Maturity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Current Challenges: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1. Data Silos: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 data in BMS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Policy data from carriers (different formats)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Financial data in accounting system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Claims data scattered across carrier portals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No single source of truth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2. Limited Analytics: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Basic reporting only (premiums, commissions, renewals)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No predictive analytics (which clients likely to leave?)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Difficult to benchmark clients against industry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Cannot easily identify cross-sell opportunities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3. Client Expectations: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Clients want data-driven insights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Loss ratio trending and predictive modeling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Benchmarking against peers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Total cost of risk analytics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Lockton often can't deliver these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4. Competitive Disadvantage: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Aon has massive data analytics team and IP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Marsh has proprietary benchmarking databases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Lockton seen as behind on analytics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Challenge 6: Talent Acquisition &amp; Retention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Talent Market Dynamics: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Insurance seen as 'boring' by younger talent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Tech companies, consulting firms more attractive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Competition from other brokers for experienced talent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Specific Challenges: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1. Technical Talent: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Difficult to recruit data scientists, developers, UX designers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Tech talent wants to work on cutting-edge technology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Lockton's legacy tech stack not appealing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2. Young Brokers/Account Managers: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Expect modern tools and digital workflows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Frustrated by manual processes and old systems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May leave for competitors with better tech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3. Geographic Challenges: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Dubai: High cost of living, competitive market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Difficult to relocate talent internationally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Limited local insurance talent pool in emerging markets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4. Retention: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Employee ownership helps, but vests over time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Competitors (PE-backed) offering big signing bonuses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Big 3 can offer faster promotion paths (more levels)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Challenge 7: Middle East Market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Regional Challenges: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1. Competitive Intensity: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All major global brokers present in Dubai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Lockton not as well-known as Marsh/Aon locally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Local brokers have relationship advantages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2. Regulatory Complexity: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Multiple regulatory regimes (UAE federal, DIFC, ADGM)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Different rules across GCC countries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Takaful requirements for some clients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Systems not built for multi-jurisdiction complexity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3. Economic Volatility: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Oil price dependency impacts insurance demand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Project-based economy (construction boom/bust cycles)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Economic diversification creating uncertainty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4. Carrier Relationships: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Need strong relationships with local carriers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Many regional carriers lack modern technology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Integration challenges with regional carriers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5. Talent Availability: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Expat workforce with high turnover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Limited local insurance expertise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Training and development needs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SECTION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Technology Challenges in Detail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Challenge: Legacy Broker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Current BMS Limitations: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Likely System: Applied Epic or similar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Key Pain Points: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Complex, not intuitive (steep learning curve)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Too many clicks for common tasks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Difficult to get comprehensive client view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Reporting capabilities limited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Mobile experience poor or non-existent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Customization difficult and expensive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Integration Issues: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Limited APIs to carrier systems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Manual data entry from carrier emails/portals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Data synchronization problems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Double-entry across systems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Impact on Brokers: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Frustration with system complexity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Time wasted on navigation and data entry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Difficulty finding information quickly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Cannot work effectively from mobile devices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Modernization Challenge: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Cannot easily replace (too disruptive, expensive)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Need incremental improvements and automation layer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Challenge: Client Portal &amp; Digital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Current State (Typical for Mid-Tier Brokers):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Basic portal with limited functionality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View policies, download certificates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Not mobile-optimized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Lacks self-service capabilities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Client Expectations: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24/7 access to all policy information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Instant certificate downloads (no broker involved)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File claims online with photo uploads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View renewal status and quotes in real-time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Access analytics dashboards (loss ratios, benchmarking)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Mobile app for on-the-go access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Chatbot for simple questions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Gap vs. Competitors: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Marsh has sophisticated portal with analytics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Aon has strong data visualization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InsurTech brokers have slick, modern UX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Business Impact: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Clients frustrated with manual email requests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Losing RFPs on technology evaluation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Brokers fielding requests that should be self-service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Investment Needed: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Modern client portal: $2-5M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12-18 month project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Challenge: Carrier Integration Complexity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The Integration Challenge: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Lockton works with 100+ insurance carriers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Each carrier has different systems and data formats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Integration methods vary: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Modern carriers: RESTful APIs (minority)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Mid-tier: SOAP APIs or EDI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Legacy carriers: Email, fax, manual portals (majority)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Current State: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Limited number of carriers with real-time integration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Most quotes/policies received via email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Manual data entry from carrier responses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Commission reconciliation highly manual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Policy changes require email back-and-forth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Business Impact: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Slow quote turnaround (days vs. minutes)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Data quality issues (manual entry errors)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Broker time wasted on data entry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Cannot offer instant quotes to clients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Competitive Disadvantage: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Big 3 have more comprehensive carrier integrations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InsurTech brokers built integration from day one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Solution Complexity: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Building and maintaining 100+ integrations expensive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Carriers update systems frequently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Need API gateway/middleware layer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Challenge: Data Warehouse &amp;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Current State: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No centralized data warehouse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Data trapped in operational systems: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BMS (clients, policies, commissions)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Carrier portals (claims, policy details)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Accounting system (financials)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Email and documents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Analytics Limitations: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Reporting is manual and time-consuming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Excel-based analysis (not scalable)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No self-service analytics for brokers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Limited executive dashboards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Cannot do predictive analytics (no ML/AI)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Use Cases Not Enabled: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 retention prediction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Cross-sell opportunity identification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Loss ratio analysis by industry/client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Broker productivity metrics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Market intelligence and competitive pricing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Renewal forecasting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Technology Solution Needed: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Cloud data warehouse (Snowflake or BigQuery)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ETL/ELT pipelines from source systems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BI tools (Tableau, Power BI)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ML platform for predictive models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Challenge: Mobile &amp; Remote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Business Context: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Brokers work from client sites, home, while traveling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Need access to client data anywhere, anytime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Post-COVID: Hybrid and remote work permanent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Current Limitations: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BMS not mobile-optimized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Limited functionality on mobile browsers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No native mobile apps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VPN required for remote access (slow, clunky)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Broker Pain Points: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Cannot quickly look up policy info in client meeting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Cannot respond to client questions on the go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Must wait until back at desk to access systems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Competitor brokers have mobile apps (looks unprofessional)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Security Concerns: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Sensitive data on personal devices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BYOD (bring your own device) policy challenges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Need mobile device management (MDM)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Solution Needed: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Native mobile app for brokers (iOS/Android)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Mobile-responsive web applications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Secure access without VPN (zero-trust architecture)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Offline capability with sync when online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Challenge: Workflow Automation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Manual Processes That Should Be Automated: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1. Certificate of Insurance Generation: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Currently: Broker manually creates from BMS (10-15 min)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Should be: Client downloads instantly from portal (30 sec)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2. Renewal Reminders: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Currently: Brokers manually track and email reminders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Should be: Automated emails triggered 90/60/30 days before expiration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3. Quote Comparison: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Currently: Manual spreadsheets comparing carrier quotes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Should be: Automated quote comparison tool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4. Policy Data Entry: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Currently: Manually enter policy details from carrier emails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Should be: OCR + AI extract data automatically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5. Commission Reconciliation: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Currently: Manual matching of payments to policies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Should be: Automated reconciliation with exceptions only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Impact: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Thousands of broker hours wasted on repetitive tasks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Opportunity for RPA (Robotic Process Automation)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Quick wins with high ROI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SECTION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Operational Challenges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Challenge: Inconsistent Service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The Problem: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Service quality varies across offices and teams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No standardized processes across 185+ locations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 experience depends on which broker they get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Manifestations: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Some offices very proactive, others reactive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Different account management approaches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Inconsistent renewal processes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Variable response times to client inquiries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Root Causes: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Entrepreneurial culture = autonomy but inconsistency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Limited knowledge management systems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Best practices not documented or shared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Training varies by office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No standard playbooks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Client Impact: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Multi-location clients get inconsistent experience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Quality depends on individual broker, not Lockton standard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Difficult to scale service model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Needed: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Service delivery framework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Standard processes with room for customization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Knowledge management platform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Cross-office collaboration tools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Challenge: Knowledge Management &amp; Institutional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The Problem: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Knowledge trapped in individual brokers' heads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When broker leaves, knowledge leaves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Limited systems for capturing and sharing expertise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Knowledge Gaps: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 history and relationship context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Industry-specific expertise (healthcare, construction, etc.)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Carrier relationship notes and negotiation strategies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Technical insurance knowledge (specialty lines)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Best practices for common scenarios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Current Tools (Inadequate):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Email (siloed, not searchable across organization)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BMS notes (limited, inconsistent)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Shared drives (unorganized, outdated)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No central knowledge base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Impact: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Reinventing the wheel (every broker solves same problems)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New brokers take long time to ramp up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Lost opportunities (don't know colleague handled similar situation)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Solution Needed: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Knowledge management platform (SharePoint, Confluence, etc.)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Communities of practice by industry/specialty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Systematic capture of lessons learned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Challenge: Cross-Selling &amp; Client Expansion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Opportunity: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Existing clients only buy 2-3 insurance lines from Lockton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Average client could buy 5-7 lines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Cross-sell potential is $500M+ in additional revenue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Current Challenges: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1. Visibility: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Property broker doesn't know client also needs cyber insurance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Benefits team not connected to commercial team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No system flags cross-sell opportunities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2. Coordination: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Silos between practices (P&amp;C vs. Benefits vs. Specialty)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Specialists don't proactively reach out to each other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No structured cross-sell process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3. Incentives: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Commission structure doesn't reward referrals enough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Brokers protective of 'their' clients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Technology Gap: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No AI/ML to identify cross-sell opportunities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Cannot analyze client data to suggest products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Solution Needed: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Cross-sell opportunity tracking in BMS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Predictive analytics for recommendations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Process for warm handoffs between practices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Challenge: M&amp;A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Lockton Growth Strategy: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Acquisitions of regional brokers and specialists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Typical: 5-10 acquisitions per year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Private ownership limits acquisition capacity vs. public competitors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Integration Challenges: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1. Cultural Integration: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Acquired firm has different culture and ways of working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Employees feel like 'acquired' not 'joined'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Risk of key staff and client departures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2. Systems Migration: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Move acquired firm from their BMS to Lockton's BMS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Data migration (clients, policies, financials)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Training on new systems (steep learning curve)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Typical timeline: 12-18 months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3. Client Retention: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Some clients uncomfortable with change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Competitor brokers poach during transition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Service disruption during migration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4. Carrier Relationships: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Renegotiate commission agreements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Transfer appointments to Lockton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Success Factors Needed: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Playbook for integrations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Dedicated integration team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Change management focus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SECTION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Recommended Solutions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Solution Framework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Three Pillars of Transformation: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1. Technology Modernization: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Modern client portal and self-service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Data warehouse and analytics platform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Workflow automation and RPA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API integration layer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Mobile applications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2. Operational Excellence: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Standardized service delivery framework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Knowledge management platform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Cross-sell enablement program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Broker productivity initiatives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3. Strategic Initiatives: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Geographic expansion (Middle East, Asia)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Specialty practice development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Talent acquisition and retention program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Brand building and marketing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Guiding Principles: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Preserve Lockton culture while scaling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Phased approach (quick wins → foundation → transformation)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Focus on ROI and business outcomes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Leverage strengths (relationships) while closing gaps (technology)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Solution 1: Modern Client Portal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Vision: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Best-in-class digital experience for Lockton clients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24/7 self-service for routine tasks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Mobile-first design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Core Features: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Policy Dashboard: All policies in one place (across carriers)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Certificate Downloads: Instant, no broker needed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Claims Filing: Upload photos, track status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Renewal Center: View upcoming renewals, quotes, decisions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Document Vault: Secure storage for policies, endorsements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Analytics: Loss ratio trending, benchmarking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Communication: Message broker, schedule meetings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Technology Stack: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Cloud-native (AWS or Azure)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React/Angular frontend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Microservices backend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API-first architecture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OAuth 2.0 + MFA for security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Investment: $3-5M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Timeline: 12-18 months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ROI: Client satisfaction, retention, reduced broker inquiries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Solution 2: Data Warehouse &amp;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Architecture: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Cloud data warehouse: Snowflake (recommended)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ETL pipelines: Fivetran or custom (Python/Airflow)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BI layer: Tableau or Power BI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Optional: Databricks for ML/AI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Data Sources: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BMS (clients, policies, commissions, renewals)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Carrier systems (claims, premiums, loss ratios)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CRM (opportunities, activities)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Financial system (revenue, expenses)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Email/documents (unstructured data)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Use Cases: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Executive dashboards (KPIs, trends)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 retention prediction model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Cross-sell opportunity identification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Loss ratio analysis and benchmarking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Broker productivity metrics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Market intelligence (competitive pricing)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Why Snowflake: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Built for multi-source data aggregation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Strong governance (critical for insurance)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Data sharing with clients/carriers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Multi-cloud flexibility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Investment: $1-2M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Timeline: 9-12 months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ROI: Data-driven decisions, client insights, efficiency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Solution 3: Workflow Automation &amp; RPA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Quick Win Opportunities (3-6 months):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1. Certificate Generation: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Auto-generate from BMS data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 downloads from portal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ROI: 10-15 min → 30 sec per certificate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2. Renewal Reminders: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Automated email workflows (90/60/30 days)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Calendar integration for brokers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ROI: Zero broker time on reminders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3. Policy Data Entry: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OCR + AI to extract from carrier emails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Auto-populate BMS fields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ROI: 20 min → 2 min per policy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4. Commission Reconciliation: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Auto-match payments to policies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Flag exceptions only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ROI: 80% reduction in manual effort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Technology: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Workflow: Zapier, Microsoft Power Automate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RPA: UiPath, Automation Anywhere (for complex flows)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Document processing: Google Document AI, AWS Textract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Investment: $300-500K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Timeline: 3-6 months (quick wins)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ROI: 15-20 hours per broker per month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Solution 4: API Integration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Problem Being Solved: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100+ carrier integrations, each different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Manual data entry from carrier emails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Slow quote turnaround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Solution Architecture: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API Gateway (Kong, AWS API Gateway, Apigee)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Integration middleware (MuleSoft, Dell Boomi, or custom)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Standard data model (ACORD as baseline)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Normalize carrier data into consistent format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Phased Approach: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Phase 1: Top 10 carriers (80% of volume) - 6 months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Phase 2: Next 20 carriers - 9 months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Phase 3: Long tail (manual fallback acceptable) - ongoing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Integration Types: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Quote requests &amp; responses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Policy issuance and endorsements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Claims submission and status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Commission statements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Benefits: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Faster quotes (hours → minutes)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Reduced manual data entry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Improved data quality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Foundation for future innovation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Investment: $500K-1M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Timeline: 12-18 months (phased)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Solution 5: Mobile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Broker Mobile App: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Quick client lookup (contact info, policies)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Policy details and coverage summaries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Upload photos/documents from field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Push notifications (renewals, claims updates)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Offline mode with sync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Client Mobile App: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View policies and coverage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Download certificates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File claims with photo evidence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Contact broker (call/message)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Renewal status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Development Approach: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Option 1: Progressive Web App (PWA)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Faster, cheaper, no app store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Good starting point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Option 2: React Native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Shared codebase (iOS + Android)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Native performance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Option 3: Native (Swift/Kotlin)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    • Best performance, most expensive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Recommendation: Start with PWA, migrate to native if usage high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Investment: $400-800K (PWA), $1-2M (native)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Timeline: 6-9 months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Solution 6: Service Delivery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Purpose: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Standardize core processes while preserving flexibility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Ensure consistent client experience across all offices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Enable scaling without quality loss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Components: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1. Service Standards: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Response time SLAs (emails, phone calls)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Account review cadence (quarterly, annual)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Renewal process timeline (180 days, 120 days, 90 days)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Claims support procedures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2. Playbooks: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New client onboarding playbook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Renewal management playbook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Large loss response playbook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RFP response playbook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3. Templates &amp; Tools: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 communication templates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Stewardship report templates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Risk assessment forms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Presentation decks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4. Training Program: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Service excellence training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Playbook certification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Continuous improvement workshops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Implementation: 6-12 months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Investment: $500K (consulting + internal resources)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Solution 7: Knowledge Management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Platform: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Microsoft SharePoint or Confluence recommended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Integrated with BMS and Office 365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Search across all content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Content Types: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1. Technical Insurance Knowledge: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Coverage deep-dives by line of business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Underwriting guidelines and insights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Claims best practices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2. Industry Expertise: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Healthcare risk profiles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Construction insurance nuances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Technology company E&amp;O considerations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3. Client Insights: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Account strategies and histories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Carrier relationship notes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Lessons learned from renewals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4. Operational Guidance: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Process documentation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How-to guides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Troubleshooting resources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Governance: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Content owners by practice area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Regular review and updates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Contribution metrics (incentivize sharing)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Investment: $200-400K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Timeline: 6 months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Solution 8: Cross-Sell Enablement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System Capabilities: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Track products each client has vs. could have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Flag cross-sell opportunities in BMS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Predictive model: Which clients need what products?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Process Design: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1. Opportunity Identification: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Quarterly review of client portfolio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AI/ML recommendations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Trigger events (growth, new location, M&amp;A)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2. Warm Handoff Protocol: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Primary broker introduces specialist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Joint discovery call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Specialist leads from there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3. Commission Sharing: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Split commission fairly between referrer and specialist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Recognition for successful referrals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4. Client Experience: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Positioned as 'expanding partnership' not 'upselling'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Focus on unmet needs and risk gaps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Pilot Approach: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Start with P&amp;C ↔ Benefits cross-sell (most common)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Prove model, then expand to specialty lines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ROI: $100M+ in additional revenue over 3 years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Investment: $300K (process design, training, tech)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Timeline: 6-9 months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Solution 9: Broker Productivity Initiative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Goal: Increase revenue per broker by 25% through efficiency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Productivity Levers: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1. Time Reallocation: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Reduce admin time from 40% → 20% of day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Increase client-facing time from 40% → 60%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2. Technology Tools: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BMS workflow optimization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Mobile app for field work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Automation of repetitive tasks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3. Support Resources: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Dedicated service team for routine client requests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Brokers focus on complex advisory work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Leverage lower-cost resources strategically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4. Skills Development: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Sales training (consultative selling)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Industry expertise (vertical specialization)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Negotiation skills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Measurement: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Revenue per broker (baseline: $2.5M → target: $3.1M)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 satisfaction scores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Time allocation tracking (% on admin vs. client)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ROI: $270M additional revenue at scale (11,000 employees × 25% productivity × $245K revenue per employee)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Timeline: 18-24 months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Solution 10: Talent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Recruitment: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1. Employer Brand: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Emphasize private ownership and employee ownership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Highlight culture and career growth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Showcase technology investments (appeal to younger talent)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2. Target Profiles: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Experienced brokers from competitors (Marsh, Aon, Gallagher)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Young professionals (college recruiting program)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Technical talent (data scientists, developers)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3. Competitive Compensation: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Match market rates for base + commission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Accelerate vesting of employee ownership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Sign-on bonuses for key hires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Retention: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1. Career Pathing: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Clear progression: Associate → Senior → Principal → Managing Director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Specialty tracks (technical expert vs. people leader)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2. Development: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Insurance certifications (CPCU, ARM)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Leadership development programs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Mentorship matching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3. Culture: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Maintain 'Lockton way' as company grows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Employee engagement surveys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Recognition programs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SECTION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Implementation Roadmap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Phase 1: Quick Wins (0-6 Months)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Goals: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Build momentum with visible successes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Prove ROI to secure funding for larger initiatives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Address most painful inefficiencies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Priority Projects: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1. Workflow Automation (3 months, $200K):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Certificate generation automation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Renewal reminder automation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ROI: Immediate broker time savings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2. Data Quality Initiative (4 months, $100K):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BMS data cleansing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Validation rules for new entries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ROI: Better reporting accuracy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3. Broker Mobile Access (6 months, $300K):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Progressive Web App (PWA)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 lookup and policy info on mobile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ROI: Broker productivity in field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Success Metrics: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Broker satisfaction scores increase 20%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10-15 hours per broker per month saved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Data quality improvement (95%+ accuracy)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Phase 2: Foundation (6-18 Months)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Goals: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Build technology and operational foundation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Enable future innovation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Close major capability gaps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Priority Projects: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1. Data Warehouse &amp; Analytics (12 months, $1.5M):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Snowflake implementation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ETL from BMS and key carriers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BI dashboards (Tableau)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ROI: Data-driven insights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2. Client Portal MVP (12 months, $3M):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Policy viewing and certificate downloads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Mobile-responsive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ROI: Client satisfaction, reduced inquiries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3. API Integration Layer (12 months, $800K):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Top 10 carrier integrations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Middleware for standardization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ROI: Faster quotes, data quality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4. Service Delivery Framework (9 months, $500K):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Process standardization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Playbooks and templates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ROI: Consistent client experience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Success Metrics: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 portal adoption: 60%+ of clients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Quote turnaround: 3 days → 1 day (top carriers)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Analytics self-service: 80% of reports automated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Phase 3: Transformation (18-36 Months)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Goals: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Industry-leading capabilities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Sustainable competitive advantage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Full digital transformation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Priority Projects: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1. Client Portal Advanced (15 months, $2M):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Claims filing and tracking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Analytics and benchmarking dashboards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Native mobile apps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ROI: Differentiation vs. Big 3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2. AI/ML Applications (18 months, $1.5M):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 retention prediction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Cross-sell recommendations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Document processing automation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ROI: Revenue growth, efficiency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3. Broker Productivity Platform (24 months, $2M):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BMS optimization and modernization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Native mobile apps for brokers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Workflow orchestration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ROI: 25% productivity increase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4. Knowledge Management (12 months, $400K):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SharePoint implementation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Content migration and governance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ROI: Faster ramp time, knowledge sharing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Success Metrics: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 retention: 95% → 98%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Revenue per broker: $245K → $300K+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NPS (Net Promoter Score): Top quartile for industry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Investment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3-Year Total Investment: $13-16M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Year 1 (Quick Wins + Foundation Start):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Investment: $3-4M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Focus: Automation, mobile, data quality, analytics start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Year 2 (Foundation Complete + Transformation Start):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Investment: $5-6M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Focus: Client portal, API integration, service framework, analytics complete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Year 3 (Transformation):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Investment: $5-6M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Focus: Advanced portal features, AI/ML, productivity platform, knowledge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Funding Sources: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Operating budget: $5M (BAU technology spend)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Strategic investment: $8-11M (approved separately)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Expected ROI: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Cost savings: $50M over 3 years (broker productivity)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Revenue growth: $200M over 3 years (retention + cross-sell + new business)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Total ROI: 15x over 5 years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Payback period: 3-4 years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Governance &amp; Organization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Governance Structure: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Steering Committee (Quarterly):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CEO, COO, CFO, CIO, Practice Leaders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Portfolio prioritization decisions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Budget approvals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Program Management Office: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Dedicated PMO for transformation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5-7 person team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Project oversight, risk management, reporting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Executive Sponsors: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Each major initiative has C-level sponsor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Accountable for business outcomes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Delivery Teams: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Product owners from business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Scrum teams (5-9 people each)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Mix of internal staff + contractors/consultants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Change Management: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Dedicated change management lead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Communication plan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Training and enablement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Champion network across organization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Success Factors &amp;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Critical Success Factors: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1. Executive Commitment: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Visible, sustained leadership support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Willing to make tough decisions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2. Preserve Culture: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Technology enables, doesn't replace relationships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Maintain private ownership advantages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3. Phased Approach: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Quick wins build momentum and credibility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Don't try to do everything at once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4. Change Management: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Invest heavily in people side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Communication, training, support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Key Risks: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1. Budget Overruns (Mitigation: Phased funding, kill low-ROI projects)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2. Low Adoption (Mitigation: User involvement, change management)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3. Talent Attrition (Mitigation: Retention bonuses, career paths)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4. Integration Complexity (Mitigation: API layer, MVP approach)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5. Competitive Response (Mitigation: Move fast, focus on differentiation)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Measuring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Financial Metrics: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Revenue growth (organic + acquisition)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Revenue per broker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EBITDA margin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 lifetime value (CLV)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Operational Metrics: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 retention rate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Cross-sell ratio (products per client)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Broker productivity (hours on admin vs. client)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Quote turnaround time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Claims resolution time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Technology Metrics: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 portal adoption rate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Mobile app usage (daily active users)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System uptime and performance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Automation rate (% of tasks automated)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Client Satisfaction: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Net Promoter Score (NPS)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Client satisfaction surveys (CSAT)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Win rate in competitive RFPs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Employee Metrics: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Employee satisfaction (eNPS)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Turnover rate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Time to productivity for new hires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1. Lockton's Strengths: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Private ownership and employee ownership culture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Strong client relationships and service quality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Middle market positioning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2. Key Challenges: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Technology gap vs. Big 3 competitors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Scaling without losing culture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Limited resources for mega-accounts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3. Strategic Imperatives: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Invest in technology to close digital gap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Standardize processes while preserving relationships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Enable broker productivity and efficiency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Build data and analytics capabilities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4. Success Requires: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$13-16M investment over 3 years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Executive commitment and organizational alignment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Phased approach (quick wins → foundation → transformation)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Strong change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/>
            </a:pPr>
            <a:r>
              <a:t>5. Expected Outcomes: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15x ROI over 5 years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Competitive parity on technology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400"/>
            </a:pPr>
            <a:r>
              <a:t>Sustained differentiation on service and culture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44444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7635</Words>
  <Application>Microsoft Macintosh PowerPoint</Application>
  <PresentationFormat>On-screen Show (4:3)</PresentationFormat>
  <Paragraphs>1603</Paragraphs>
  <Slides>76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Keshav kumar</cp:lastModifiedBy>
  <cp:revision>3</cp:revision>
  <dcterms:created xsi:type="dcterms:W3CDTF">2013-01-27T09:14:16Z</dcterms:created>
  <dcterms:modified xsi:type="dcterms:W3CDTF">2026-02-12T16:47:26Z</dcterms:modified>
  <cp:category/>
</cp:coreProperties>
</file>