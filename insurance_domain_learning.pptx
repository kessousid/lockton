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24"/>
  </p:normalViewPr>
  <p:slideViewPr>
    <p:cSldViewPr snapToGrid="0" snapToObjects="1">
      <p:cViewPr varScale="1">
        <p:scale>
          <a:sx n="92" d="100"/>
          <a:sy n="92" d="100"/>
        </p:scale>
        <p:origin x="2104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Insurance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Complete Learning Guide for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1: Insurance Fundamentals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2: Types of Insurance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3: Insurance Broking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4: Insurance Lifecycle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5: Key Players in Insurance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6: Technology in Insurance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7: Regulatory &amp;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8: Insurance in UAE/Middle East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9: Career in Insurance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Insurance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Insurance?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Definition: A contract (policy) where an insurer provides financial protection against specified risks in exchange for premium payments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Purpose: Transfer risk from individuals/businesses to insurance companies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Core Principle: Pooling of risks - many pay premiums, few make claims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Key Concept: Law of Large Numbers - the more policies, the more predictable the losses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Value Proposition: Peace of mind and financial protection against unexpected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Insurance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Risk Assessment: Insurer evaluates the risk (underwriting)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Premium Calculation: Based on probability and severity of loss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Policy Issuance: Contract outlining coverage, exclusions, terms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Premium Payment: Policyholder pays (monthly, quarterly, annually)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Event Occurs: Covered loss or damage happens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Claim Filing: Policyholder notifies insurer (First Notice of Loss)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7. Claim Processing: Insurer investigates and validates claim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8. Settlement: Insurer pays out based on policy terms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Insurance Terminology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Premium: Amount paid for insurance coverage (monthly/annual)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Policy: Legal contract between insurer and insured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Policyholder/Insured: Person or entity buying insurance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Coverage: What risks/losses are protected by the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Deductible: Amount policyholder pays before insurance kicks 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Co-insurance: Percentage of costs shared between insurer and insured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Insurance Terminology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Claim: Request for payment under insurance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Underwriting: Process of evaluating and pricing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Exclusions: What is NOT covered by the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Rider/Endorsement: Modification or addition to standard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Loss Ratio: Claims paid divided by premiums collected (profitability metric)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• Peril: Cause of loss (fire, theft, accident)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Insurance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Revenue Streams: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Premiums: Primary income from policyholders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Investment Income: Insurers invest premium reserves in bonds, stocks, real estate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Cost Structure: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Payouts: Largest expense (ideally &lt;75% of premiums)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Operating Expenses: Staff, technology, offices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Reinsurance: Insurance for insurance companies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Profitability: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Underwriting Profit: Premiums minus claims and expenses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Combined Ratio: (Claims + Expenses) / Premiums (target: &lt;100%)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Types of Insurance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Insurance Categories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Life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Pays beneficiaries upon death of insured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Types: Term life, whole life, universal life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Property &amp; Casualty (P&amp;C):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Protects against property damage and 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 Auto, home, commercial property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Health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Covers medical expenses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Individual and group plans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Specialty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Cyber, marine, aviation, professional 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Commercial Insurance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Property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Coverage for buildings, equipment, inventory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Perils: Fire, theft, natural disasters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General Liability: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Protects against lawsuits from third-party injuries or property damage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Essential for all businesses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Workers' Compensation: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Covers employee injuries on the job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Mandatory in most jurisdictions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Commercial Auto: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Coverage for business vehicles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Specialty Insurance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Professional Liability (E&amp;O):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Errors &amp; Omissions coverage for professional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 Lawyers, consultants, architects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Cyber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Fastest-growing line due to digital threats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Covers data breaches, ransomware, business interruption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Marine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Cargo, hull, freight liability (important in Dubai)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Directors &amp; Officers (D&amp;O):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Protects executives from lawsuits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Umbrella/Excess Liability: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Additional coverage above primary policies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Employee Benefits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Group Health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Employer-sponsored medical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Lower cost than individual due to group buying power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Group Life &amp; Disability: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life insurance and income replacement if disabled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Retirement Benefits: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Pensions, 401(k), provident funds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Characteristics: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 volume (many employees per policy)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Annual open enrollment periods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 administration and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Insurance Broking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Carrier vs. Broker - Key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Insurance Carrier (Insurer):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Bears the financial 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Underwrites policies and pays claims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 AIG, Zurich, Allianz, AXA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Insurance Broker: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Acts as intermediary/advisor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Represents CLIENT interests (not carrier)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Accesses multiple carriers to find best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 Lockton, Marsh, Aon, Willis Towers Watson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Agent vs. Broker: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Agent: Represents specific insurance company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Broker: Independent, works for client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Insurance Broking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5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1. Client Engagement: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Client needs insurance (new or renewal)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assesses client's risk profile and needs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2. Market Access: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approaches multiple carriers with client specs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Requests quotes (RFQ - Request for Quote)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3. Negotiation: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negotiates terms, coverage, pricing with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Leverages relationships and buying power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4. Placement: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Broker presents options to client with recommendations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Client selects coverage; broker places policy with carrier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Broker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235"/>
            <a:ext cx="7863840" cy="635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Expert Advice: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Deep knowledge of insurance products and market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assessment and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Market Access: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Relationships with dozens/hundreds of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Access to specialty markets client couldn't reach alone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Negotiation Power: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Better terms and pricing due to volume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Carrier relationships built over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Claims Advocacy: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Support client through claims process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Fight for fair settlements on client's behalf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Ongoing Service: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Policy reviews, renewals, endorsements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Risk management consulting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Broker 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Commission-Based: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Percentage of premium paid by carrier to broker (10-20% typical)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Aligned with client retention (renewals generate ongoing commissions)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Fee-Based: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 fees from client for advisory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Common for large commercial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Contingent Commissions: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Bonus from carriers based on volume or loss ratios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Principle: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makes money through renewals and satisfied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Incentive alignment: keep clients happy = long-term revenue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Major Insurance Brokers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'Big 3' Public Brokers: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Marsh McLennan (largest publicly traded)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Aon (global, focus on reinsurance and data)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Willis Towers Watson (benefits and risk advisory)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Large Private Brokers: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(largest private broker globally)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Arthur J. Gallagher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Brown &amp; Brown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Differentiation: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Specialty expertise (healthcare, construction, energy)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Geographic presence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model and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vs. public ownership culture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Insurance Lifecycle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Policy Lifecycle - Stage 1: Underwriting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Definition: Process of evaluating risk and deciding whether to insure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Steps in Underwriting: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Application review (client information, financials, history)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assessment (probability and severity of loss)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Pricing (premium calculation based on risk factors)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Decision: Accept, decline, or accept with conditions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Factors Considered: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Industry/business type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history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stability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management 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Geographic location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Policy Lifecycle - Stage 2: Issuance &amp; Servicing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Policy Issuance: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Legal contract created with terms, conditions, exclusions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documents delivered to client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Premium collection begins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Policy Servicing: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Endorsements: Mid-term changes (add location, vehicle, coverage)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Certificates of Insurance: Proof of coverage for third parties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inquiries and support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Billing and payment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Duration: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policies are 12-month terms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multi-year policies for stability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Policy Lifecycle - Stage 3: Claims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Claims Process: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1. First Notice of Loss (FNOL): Insured reports incident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2. Claim Assignment: Adjuster assigned to case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3. Investigation: Verify coverage, gather evidence, assess damage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4. Evaluation: Determine payout amount based on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5. Settlement: Payment to insured or third party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6. Closure: Case closed and documented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Role in Claims: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Advocate for client with carrier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Expedite process and documentation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Dispute resolution if disagreements arise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Policy Lifecycle - Stage 4: Renewal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Renewal Process: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Typically starts 90-120 days before expiration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reviews: updated information, claims history, changes in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goes to market: incumbent carrier and alternatives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comparison and negotiation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decision: renew with same carrier or switch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Renewal Outcomes: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Premium increase (if claims or risk increased)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Premium decrease (if claims-free or risk reduced)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Terms change (higher deductibles, new exclusions)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Non-renewal (carrier decides not to continue)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Peak Season: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policies renew January 1 (calendar year)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Creates busy season for brokers and carriers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Players in Insurance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Insurance Ecosystem 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Primary Parties: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Policyholders/Clients: Buy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Carriers: Underwrite and bear 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Brokers: Intermediaries and advisors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Supporting Parties: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Reinsurers: Provide insurance to insurance companies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Managing General Agents (MGAs): Underwrite on behalf of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Third-Party Administrators (TPAs): Handle claims processing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Adjusters: Assess claims independently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Infrastructure: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Regulators: Government oversight bodies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Rating Agencies: Assess carrier financial strength (AM Best, S&amp;P)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Vendors: Provide insurance software platforms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Reinsurance - Insurance for Insurers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is Reinsurance?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companies buy insurance to protect their balance sheets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Transfers part of risk to reinsurers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Reinsurers Exist: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Catastrophe protection: If major hurricane hits, reinsurer pays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Capital efficiency: Carriers can write more policies with less capital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diversification: Spread risk globally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Types: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Treaty Reinsurance: Automatic coverage for all policies in a category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Facultative Reinsurance: Case-by-case for large/unusual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Major Reinsurers: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Munich Re, Swiss Re, Hannover Re, Lloyd's of London syndicates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Regulators and Rating Agencies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Regulatory Bodies: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Ensure carriers are financially solvent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Approve policy forms and rates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Protect consumer interests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Examples: State regulators (US), FCA (UK), DIFC (Dubai)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Rating Agencies: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Assess financial strength of insurance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Help clients choose financially stable insurers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Key Agencies: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AM Best (insurance specialist)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S&amp;P, Moody's, Fitch (general financial)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Ratings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Higher ratings = more trust = more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Downgrades can severely impact carrier's ability to write new business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in Insurance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Insurance Technology Stack 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Systems: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Administration Systems (PAS): Manage policy lifecycle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Management Systems: Handle claims processing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Management Systems (BMS): CRM for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Underwriting Platforms: Risk assessment and pricing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Supporting Systems: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Management: Store and retrieve policies, contracts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Billing &amp; Payment: Premium collection and processing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Analytics: Risk modeling, loss analysis, business intelligence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Customer Portals: Self-service for policyholders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Layer: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APIs connecting brokers, carriers, third-party data providers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Policy Administration Systems (PAS)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Purpose: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Central system for managing entire policy lifecycle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From quote to issuance to renewal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Capabilities: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Product configuration: Define insurance products, rules, pricing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Rating engine: Calculate premiums based on risk factors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issuance: Generate contracts and documents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Endorsements: Handle mid-term changes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Renewals: Automate renewal process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Major Vendors: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Guidewire PolicyCenter (market leader)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Duck Creek Policy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Legacy systems: Many carriers still use 30+ year old mainframes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Broker Management Systems (BMS)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Purpose: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CRM for insurance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Manage clients, policies, carriers, commissions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database and contact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tracking across multiple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reminders and workflows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tracking and reconciliation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storage and generation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Workflow automation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Major BMS Platforms: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Applied Epic (very popular with brokers)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Vertafore AMS360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EBIX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EZLynx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&amp; Analytics in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Use Cases: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Analysis: Profitability by line, client, region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Pattern Detection: Identify fraud or systemic issues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Scoring: Predictive models for underwriting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Retention: Predict which clients likely to leave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Intelligence: Competitive pricing, market trends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Warehouses: Snowflake, BigQuery, Databricks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Tools: Tableau, Power BI, Qlik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Analytics: Python, R, SAS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AI/ML: Pricing optimization, claims automation, chatbots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InsurTech - Digital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is InsurTech?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Technology-driven innovation in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Startups challenging traditional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Categories: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Digital Brokers/Carriers: Lemonade, Next Insurance (fully online)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Distribution Platforms: Comparison sites, embedded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Underwriting Tech: AI-powered risk assessment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Tech: Photo-based damage assessment, instant payouts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Infrastructure: APIs, data platforms, fraud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 on Traditional Players: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Forces modernization and digital transformation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Customer expectations for speed and convenience rise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Traditional brokers must digitize or lose relevance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Integration is Complex: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work with 50+ carriers, each with different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Legacy systems (30-40 years old) with limited APIs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format inconsistencies across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Real-time requirements (quotes, policy checks, claims status)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Methods: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APIs: Modern carriers offer RESTful APIs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EDI (Electronic Data Interchange): Older standard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ACORD Standards: Insurance industry data standards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Manual: Email, phone, portal (still common unfortunately)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once, integrate with 50+ carriers = significant IT effort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Regulatory &amp; Compliance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Insurance is Heavily Regulated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Consumer Protection: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is complex; consumers need protection from unfair 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Ensures policies are clear and deliver promised benefits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Financial Stability: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Carriers must maintain reserves to pay future claims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Prevents insolvency and consumer harm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Market Conduct: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Fair pricing and underwriting (no discrimination)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Ethical sales 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handling standards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Systemic Risk: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industry failure could destabilize economy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Regulators ensure industry health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Regulatory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Licensing: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Carriers must be licensed in each jurisdiction where they operate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and agents must hold individual licenses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Capital &amp; Solvency: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Risk-Based Capital (RBC) requirements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Reserves for future claims (IBNR - Incurred But Not Reported)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Rate Approval: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jurisdictions require regulatory approval of premium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Reporting: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financial reporting to regulators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data, market conduct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Privacy: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GDPR (Europe), CCPA (California), local data protection laws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Sensitive personal and financial data requires strong protection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Compliance in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 on Technology Projects: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requirements drive project scope (non-negotiable features)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Compliance deadlines are truly fixed (cannot negotiate extensions)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Audit trails and documentation requirements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residency rules (where data can be stored)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Examples: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New reporting regulation = build reporting module by deadline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GDPR = implement data privacy controls and consent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Solvency II (Europe) = complex capital calculation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Delivery Manager Role: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Understand which requirements are regulatory vs. nice-to-have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regulatory requirements first (highest risk)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 documentation for audit purposes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Insurance in UAE/Middle East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UAE Insurance 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Market Characteristics: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Fast-growing market driven by economic growth and diversification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Dubai and Abu Dhabi are regional insurance hubs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Mix of local and international carriers and brokers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Segments: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Health insurance (mandatory for all UAE residents)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Motor insurance (third-party liability mandatory)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Property &amp; construction (large infrastructure projects)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Marine insurance (major ports, shipping hub)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Energy insurance (oil &amp; gas sector)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Regional Players: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Local carriers: Emirates Insurance Company, Oman Insurance, Dubai Islamic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brokers: All major players have Middle East presence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Regulatory Framework in UAE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Insurance Authority (IA):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Federal regulator for insurance in UAE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Supervises carriers, approves products, ensures solvency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Website: www.ia.gov.ae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Dubai International Financial Centre (DIFC):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 financial zone with its own regulatory framework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DIFC Authority regulates insurance within the zone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Attracts international firms with English common law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Abu Dhabi Global Market (ADGM):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Similar to DIFC, separate regulatory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Requirement: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companies must be licensed separately for: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UAE mainland (Insurance Authority)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DIFC (DIFC Authority)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ADGM (ADGM Financial Services Regulatory Authority)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Takaful - Islamic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is Takaful?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Islamic (Sharia-compliant)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Based on mutual cooperation and shared responsibility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interest (riba), no gambling (maysir), no uncertainty (gharar)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How it Differs from Conventional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Participants contribute to common fund (not premiums)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Surplus is shared among participants (not kept by company)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Investment in Sharia-compliant assets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Market Importance: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Significant in GCC countries with Islamic finance focus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customers require Takaful for religious reasons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Growing segment of UAE market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Consideration: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access to both conventional and Takaful carriers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Unique Considerations - Middle 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Multi-National Clients: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businesses operate across GCC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coordinated coverage across jurisdictions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Construction &amp; Infrastructure: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Massive projects (airports, cities, stadiums)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 construction insurance and performance bonds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Expatriate Workforce: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Diverse workforce from 100+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Group health benefits with varying needs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Economic Free Zones: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 regulations in free zones (Jebel Ali, DIFC, ADGM)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Language &amp;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English and Arabic documentation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Cultural considerations in sales and service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Career in Insurance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Career Paths in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Broker/Producer Track: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Client-facing sales and account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book of business, earn commissions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Technical Track: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Underwriter: Evaluate risks and price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Adjuster: Investigate and settle claims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Actuary: Statistical analysis and pricing (requires exams)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Manager: Help clients identify and mitigate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Operations Track: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Account Manager: Service existing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Administrator: Process policies and endorsements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Technology/Delivery Track: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Delivery Manager, Project Manager, Business Analyst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IT roles in insurance companies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Skills Needed for Insurance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Skills: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Analytical thinking (risk assessment, data analysis)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Communication (complex concepts to clients)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 building (long-term client relationships)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Attention to detail (contracts, compliance)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Domain Knowledge: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products and terminology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requirements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trends and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Technical Skills (for tech roles):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Project management methodologies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analysis and business intelligence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Understanding of insurance systems landscape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Continuous Learning: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certifications (CPCU, ARM, AINS)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Stay current with regulations and market changes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Professional 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CPCU (Chartered Property Casualty Underwriter):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Gold standard in P&amp;C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8 exams covering all aspects of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2-3 years to complete typically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AINS (Associate in General Insurance):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than CPCU (4 exams)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Good foundation for brokers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ARM (Associate in Risk Management):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risk management principles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3 exams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CIC (Certified Insurance Counselor):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5-course program for brokers/agents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Note: These are US-based (The Institutes)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Check for regional equivalents in UAE/Middle East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Choose Insurance Industry?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Essential industry that won't disappear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Recession-resistant (people still need insurance)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Growth 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Emerging markets expanding (Middle East, Asia)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New risk types (cyber, climate, pandemic)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Intellectual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 risk assessment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transformation underway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problem-solving for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Meaningful Work: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Help businesses and individuals protect against risk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Support recovery after losses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Financial Rewards: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Competitive compensation especially in broker/sales roles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potential significant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Insurance transfers financial risk from individuals/businesses to insurers through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Brokers are client advocates who access multiple carriers to find best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Insurance lifecycle: Underwriting → Issuance → Servicing → Claims → Renewal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Technology is transforming insurance (PAS, BMS, analytics, InsurTech)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Heavy regulation protects consumers and ensures financial stability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UAE market is unique with mandatory health/motor, DIFC regulation, and Takaful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7. Multiple career paths exist with opportunities for continuous learning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Continue Your Insurance Learning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3433</Words>
  <Application>Microsoft Macintosh PowerPoint</Application>
  <PresentationFormat>On-screen Show (4:3)</PresentationFormat>
  <Paragraphs>630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kumar</cp:lastModifiedBy>
  <cp:revision>4</cp:revision>
  <dcterms:created xsi:type="dcterms:W3CDTF">2013-01-27T09:14:16Z</dcterms:created>
  <dcterms:modified xsi:type="dcterms:W3CDTF">2026-02-12T12:28:57Z</dcterms:modified>
  <cp:category/>
</cp:coreProperties>
</file>